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9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38648" y="1234440"/>
            <a:ext cx="914400" cy="914400"/>
          </a:xfrm>
          <a:prstGeom prst="rect">
            <a:avLst/>
          </a:prstGeom>
        </p:spPr>
      </p:pic>
      <p:sp>
        <p:nvSpPr>
          <p:cNvPr id="3" name="Text 0"/>
          <p:cNvSpPr/>
          <p:nvPr/>
        </p:nvSpPr>
        <p:spPr>
          <a:xfrm>
            <a:off x="0" y="2331720"/>
            <a:ext cx="12191695" cy="365760"/>
          </a:xfrm>
          <a:prstGeom prst="rect">
            <a:avLst/>
          </a:prstGeom>
          <a:noFill/>
          <a:ln/>
        </p:spPr>
        <p:txBody>
          <a:bodyPr wrap="square" lIns="0" tIns="0" rIns="0" bIns="0" rtlCol="0" anchor="ctr"/>
          <a:lstStyle/>
          <a:p>
            <a:pPr algn="ctr" indent="0" marL="0">
              <a:buNone/>
            </a:pPr>
            <a:r>
              <a:rPr lang="en-US" sz="1200" b="1" spc="200" kern="0" dirty="0">
                <a:solidFill>
                  <a:srgbClr val="B4863D"/>
                </a:solidFill>
                <a:latin typeface="Calibri" pitchFamily="34" charset="0"/>
                <a:ea typeface="Calibri" pitchFamily="34" charset="-122"/>
                <a:cs typeface="Calibri" pitchFamily="34" charset="-120"/>
              </a:rPr>
              <a:t>REAL ESTATE CAPITAL INVESTMENT · INVESTOR OVERVIEW</a:t>
            </a:r>
            <a:endParaRPr lang="en-US" sz="1200" dirty="0"/>
          </a:p>
        </p:txBody>
      </p:sp>
      <p:sp>
        <p:nvSpPr>
          <p:cNvPr id="4" name="Text 1"/>
          <p:cNvSpPr/>
          <p:nvPr/>
        </p:nvSpPr>
        <p:spPr>
          <a:xfrm>
            <a:off x="0" y="2788920"/>
            <a:ext cx="12191695" cy="1005840"/>
          </a:xfrm>
          <a:prstGeom prst="rect">
            <a:avLst/>
          </a:prstGeom>
          <a:noFill/>
          <a:ln/>
        </p:spPr>
        <p:txBody>
          <a:bodyPr wrap="square" lIns="0" tIns="0" rIns="0" bIns="0" rtlCol="0" anchor="ctr"/>
          <a:lstStyle/>
          <a:p>
            <a:pPr algn="ctr" indent="0" marL="0">
              <a:buNone/>
            </a:pPr>
            <a:r>
              <a:rPr lang="en-US" sz="5400" dirty="0">
                <a:solidFill>
                  <a:srgbClr val="F4EFE3"/>
                </a:solidFill>
                <a:latin typeface="Cambria" pitchFamily="34" charset="0"/>
                <a:ea typeface="Cambria" pitchFamily="34" charset="-122"/>
                <a:cs typeface="Cambria" pitchFamily="34" charset="-120"/>
              </a:rPr>
              <a:t>731 N Davis Dr</a:t>
            </a:r>
            <a:endParaRPr lang="en-US" sz="5400" dirty="0"/>
          </a:p>
        </p:txBody>
      </p:sp>
      <p:sp>
        <p:nvSpPr>
          <p:cNvPr id="5" name="Text 2"/>
          <p:cNvSpPr/>
          <p:nvPr/>
        </p:nvSpPr>
        <p:spPr>
          <a:xfrm>
            <a:off x="0" y="3703320"/>
            <a:ext cx="12191695" cy="457200"/>
          </a:xfrm>
          <a:prstGeom prst="rect">
            <a:avLst/>
          </a:prstGeom>
          <a:noFill/>
          <a:ln/>
        </p:spPr>
        <p:txBody>
          <a:bodyPr wrap="square" lIns="0" tIns="0" rIns="0" bIns="0" rtlCol="0" anchor="ctr"/>
          <a:lstStyle/>
          <a:p>
            <a:pPr algn="ctr" indent="0" marL="0">
              <a:buNone/>
            </a:pPr>
            <a:r>
              <a:rPr lang="en-US" sz="2200" i="1" dirty="0">
                <a:solidFill>
                  <a:srgbClr val="D9BC84"/>
                </a:solidFill>
                <a:latin typeface="Cambria" pitchFamily="34" charset="0"/>
                <a:ea typeface="Cambria" pitchFamily="34" charset="-122"/>
                <a:cs typeface="Cambria" pitchFamily="34" charset="-120"/>
              </a:rPr>
              <a:t>Warner Robins, Georgia</a:t>
            </a:r>
            <a:endParaRPr lang="en-US" sz="2200" dirty="0"/>
          </a:p>
        </p:txBody>
      </p:sp>
      <p:sp>
        <p:nvSpPr>
          <p:cNvPr id="6" name="Text 3"/>
          <p:cNvSpPr/>
          <p:nvPr/>
        </p:nvSpPr>
        <p:spPr>
          <a:xfrm>
            <a:off x="2804008" y="4343400"/>
            <a:ext cx="6583680" cy="731520"/>
          </a:xfrm>
          <a:prstGeom prst="rect">
            <a:avLst/>
          </a:prstGeom>
          <a:noFill/>
          <a:ln/>
        </p:spPr>
        <p:txBody>
          <a:bodyPr wrap="square" lIns="0" tIns="0" rIns="0" bIns="0" rtlCol="0" anchor="ctr"/>
          <a:lstStyle/>
          <a:p>
            <a:pPr algn="ctr" indent="0" marL="0">
              <a:buNone/>
            </a:pPr>
            <a:r>
              <a:rPr lang="en-US" sz="1300" dirty="0">
                <a:solidFill>
                  <a:srgbClr val="A9B2C4"/>
                </a:solidFill>
                <a:latin typeface="Calibri" pitchFamily="34" charset="0"/>
                <a:ea typeface="Calibri" pitchFamily="34" charset="-122"/>
                <a:cs typeface="Calibri" pitchFamily="34" charset="-120"/>
              </a:rPr>
              <a:t>A value-add multifamily acquisition minutes from Robins Air Force Base — presented by MANAV Capital Group, the human touch.</a:t>
            </a:r>
            <a:endParaRPr lang="en-US" sz="1300" dirty="0"/>
          </a:p>
        </p:txBody>
      </p:sp>
      <p:sp>
        <p:nvSpPr>
          <p:cNvPr id="7" name="Text 4"/>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8" name="Text 5"/>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DISCLOSURE &amp; FORWARD-LOOKING STATEMENTS</a:t>
            </a:r>
            <a:endParaRPr lang="en-US" sz="1100" dirty="0"/>
          </a:p>
        </p:txBody>
      </p:sp>
      <p:sp>
        <p:nvSpPr>
          <p:cNvPr id="3" name="Text 1"/>
          <p:cNvSpPr/>
          <p:nvPr/>
        </p:nvSpPr>
        <p:spPr>
          <a:xfrm>
            <a:off x="548640" y="822960"/>
            <a:ext cx="9144000" cy="548640"/>
          </a:xfrm>
          <a:prstGeom prst="rect">
            <a:avLst/>
          </a:prstGeom>
          <a:noFill/>
          <a:ln/>
        </p:spPr>
        <p:txBody>
          <a:bodyPr wrap="square" lIns="0" tIns="0" rIns="0" bIns="0" rtlCol="0" anchor="ctr"/>
          <a:lstStyle/>
          <a:p>
            <a:pPr indent="0" marL="0">
              <a:buNone/>
            </a:pPr>
            <a:r>
              <a:rPr lang="en-US" sz="2800" dirty="0">
                <a:solidFill>
                  <a:srgbClr val="10192B"/>
                </a:solidFill>
                <a:latin typeface="Cambria" pitchFamily="34" charset="0"/>
                <a:ea typeface="Cambria" pitchFamily="34" charset="-122"/>
                <a:cs typeface="Cambria" pitchFamily="34" charset="-120"/>
              </a:rPr>
              <a:t>Please read before proceeding.</a:t>
            </a:r>
            <a:endParaRPr lang="en-US" sz="2800" dirty="0"/>
          </a:p>
        </p:txBody>
      </p:sp>
      <p:sp>
        <p:nvSpPr>
          <p:cNvPr id="4" name="Text 2"/>
          <p:cNvSpPr/>
          <p:nvPr/>
        </p:nvSpPr>
        <p:spPr>
          <a:xfrm>
            <a:off x="548640" y="1600200"/>
            <a:ext cx="11064240" cy="960120"/>
          </a:xfrm>
          <a:prstGeom prst="rect">
            <a:avLst/>
          </a:prstGeom>
          <a:noFill/>
          <a:ln/>
        </p:spPr>
        <p:txBody>
          <a:bodyPr wrap="square" lIns="0" tIns="0" rIns="0" bIns="0" rtlCol="0" anchor="t"/>
          <a:lstStyle/>
          <a:p>
            <a:pPr indent="0" marL="0">
              <a:lnSpc>
                <a:spcPct val="125000"/>
              </a:lnSpc>
              <a:buNone/>
            </a:pPr>
            <a:r>
              <a:rPr lang="en-US" sz="1150" dirty="0">
                <a:solidFill>
                  <a:srgbClr val="1C2A40"/>
                </a:solidFill>
                <a:latin typeface="Calibri" pitchFamily="34" charset="0"/>
                <a:ea typeface="Calibri" pitchFamily="34" charset="-122"/>
                <a:cs typeface="Calibri" pitchFamily="34" charset="-120"/>
              </a:rPr>
              <a:t>This Investor Overview has been prepared solely for, and is being delivered on a confidential basis to, persons considering an investment with MANAV Capital Group. It is for informational purposes only and does not constitute an offer to sell, a solicitation of an offer to buy, or a recommendation to purchase any interest in this or any property. Any offer will be made only pursuant to definitive transaction documents.</a:t>
            </a:r>
            <a:endParaRPr lang="en-US" sz="1150" dirty="0"/>
          </a:p>
        </p:txBody>
      </p:sp>
      <p:sp>
        <p:nvSpPr>
          <p:cNvPr id="5" name="Text 3"/>
          <p:cNvSpPr/>
          <p:nvPr/>
        </p:nvSpPr>
        <p:spPr>
          <a:xfrm>
            <a:off x="548640" y="2651760"/>
            <a:ext cx="11064240" cy="960120"/>
          </a:xfrm>
          <a:prstGeom prst="rect">
            <a:avLst/>
          </a:prstGeom>
          <a:noFill/>
          <a:ln/>
        </p:spPr>
        <p:txBody>
          <a:bodyPr wrap="square" lIns="0" tIns="0" rIns="0" bIns="0" rtlCol="0" anchor="t"/>
          <a:lstStyle/>
          <a:p>
            <a:pPr indent="0" marL="0">
              <a:lnSpc>
                <a:spcPct val="125000"/>
              </a:lnSpc>
              <a:buNone/>
            </a:pPr>
            <a:r>
              <a:rPr lang="en-US" sz="1150" dirty="0">
                <a:solidFill>
                  <a:srgbClr val="1C2A40"/>
                </a:solidFill>
                <a:latin typeface="Calibri" pitchFamily="34" charset="0"/>
                <a:ea typeface="Calibri" pitchFamily="34" charset="-122"/>
                <a:cs typeface="Calibri" pitchFamily="34" charset="-120"/>
              </a:rPr>
              <a:t>This document contains forward-looking statements — including projected returns, occupancy, rent growth, and exit outcomes — identified by words such as “target,” “project,” “estimate,” “expect,” and similar terms. These statements are based on current assumptions and are subject to risks and uncertainties that could cause actual results to differ materially. Past performance of MANAV Capital Group or any other sponsor is not a guarantee of future results.</a:t>
            </a:r>
            <a:endParaRPr lang="en-US" sz="1150" dirty="0"/>
          </a:p>
        </p:txBody>
      </p:sp>
      <p:sp>
        <p:nvSpPr>
          <p:cNvPr id="6" name="Text 4"/>
          <p:cNvSpPr/>
          <p:nvPr/>
        </p:nvSpPr>
        <p:spPr>
          <a:xfrm>
            <a:off x="548640" y="3703320"/>
            <a:ext cx="11064240" cy="960120"/>
          </a:xfrm>
          <a:prstGeom prst="rect">
            <a:avLst/>
          </a:prstGeom>
          <a:noFill/>
          <a:ln/>
        </p:spPr>
        <p:txBody>
          <a:bodyPr wrap="square" lIns="0" tIns="0" rIns="0" bIns="0" rtlCol="0" anchor="t"/>
          <a:lstStyle/>
          <a:p>
            <a:pPr indent="0" marL="0">
              <a:lnSpc>
                <a:spcPct val="125000"/>
              </a:lnSpc>
              <a:buNone/>
            </a:pPr>
            <a:r>
              <a:rPr lang="en-US" sz="1150" dirty="0">
                <a:solidFill>
                  <a:srgbClr val="1C2A40"/>
                </a:solidFill>
                <a:latin typeface="Calibri" pitchFamily="34" charset="0"/>
                <a:ea typeface="Calibri" pitchFamily="34" charset="-122"/>
                <a:cs typeface="Calibri" pitchFamily="34" charset="-120"/>
              </a:rPr>
              <a:t>Market and economic data referenced herein (including Robins Air Force Base economic impact and Warner Robins housing statistics) is drawn from publicly available third-party sources believed to be reliable; MANAV Capital Group has not independently verified this data and makes no representation as to its accuracy or completeness. Comparable sales data in this deck is presented as an illustrative template pending final verification against county records, MLS, or broker-sourced data.</a:t>
            </a:r>
            <a:endParaRPr lang="en-US" sz="1150" dirty="0"/>
          </a:p>
        </p:txBody>
      </p:sp>
      <p:sp>
        <p:nvSpPr>
          <p:cNvPr id="7" name="Text 5"/>
          <p:cNvSpPr/>
          <p:nvPr/>
        </p:nvSpPr>
        <p:spPr>
          <a:xfrm>
            <a:off x="548640" y="4754880"/>
            <a:ext cx="11064240" cy="457200"/>
          </a:xfrm>
          <a:prstGeom prst="rect">
            <a:avLst/>
          </a:prstGeom>
          <a:noFill/>
          <a:ln/>
        </p:spPr>
        <p:txBody>
          <a:bodyPr wrap="square" lIns="0" tIns="0" rIns="0" bIns="0" rtlCol="0" anchor="t"/>
          <a:lstStyle/>
          <a:p>
            <a:pPr indent="0" marL="0">
              <a:lnSpc>
                <a:spcPct val="125000"/>
              </a:lnSpc>
              <a:buNone/>
            </a:pPr>
            <a:r>
              <a:rPr lang="en-US" sz="1150" i="1" dirty="0">
                <a:solidFill>
                  <a:srgbClr val="616B80"/>
                </a:solidFill>
                <a:latin typeface="Calibri" pitchFamily="34" charset="0"/>
                <a:ea typeface="Calibri" pitchFamily="34" charset="-122"/>
                <a:cs typeface="Calibri" pitchFamily="34" charset="-120"/>
              </a:rPr>
              <a:t>Prospective investors should conduct their own due diligence and consult independent tax, legal, and financial advisors before making any investment decision.</a:t>
            </a:r>
            <a:endParaRPr lang="en-US" sz="1150" dirty="0"/>
          </a:p>
        </p:txBody>
      </p:sp>
      <p:sp>
        <p:nvSpPr>
          <p:cNvPr id="8" name="Text 6"/>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9" name="Text 7"/>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4864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THE OPPORTUNITY</a:t>
            </a:r>
            <a:endParaRPr lang="en-US" sz="1100" dirty="0"/>
          </a:p>
        </p:txBody>
      </p:sp>
      <p:sp>
        <p:nvSpPr>
          <p:cNvPr id="3" name="Text 1"/>
          <p:cNvSpPr/>
          <p:nvPr/>
        </p:nvSpPr>
        <p:spPr>
          <a:xfrm>
            <a:off x="548640" y="914400"/>
            <a:ext cx="6309360" cy="1371600"/>
          </a:xfrm>
          <a:prstGeom prst="rect">
            <a:avLst/>
          </a:prstGeom>
          <a:noFill/>
          <a:ln/>
        </p:spPr>
        <p:txBody>
          <a:bodyPr wrap="square" lIns="0" tIns="0" rIns="0" bIns="0" rtlCol="0" anchor="ctr"/>
          <a:lstStyle/>
          <a:p>
            <a:pPr indent="0" marL="0">
              <a:lnSpc>
                <a:spcPct val="105000"/>
              </a:lnSpc>
              <a:buNone/>
            </a:pPr>
            <a:r>
              <a:rPr lang="en-US" sz="3000" dirty="0">
                <a:solidFill>
                  <a:srgbClr val="10192B"/>
                </a:solidFill>
                <a:latin typeface="Cambria" pitchFamily="34" charset="0"/>
                <a:ea typeface="Cambria" pitchFamily="34" charset="-122"/>
                <a:cs typeface="Cambria" pitchFamily="34" charset="-120"/>
              </a:rPr>
              <a:t>An undervalued fourplex beside a </a:t>
            </a:r>
            <a:pPr indent="0" marL="0">
              <a:lnSpc>
                <a:spcPct val="105000"/>
              </a:lnSpc>
              <a:buNone/>
            </a:pPr>
            <a:r>
              <a:rPr lang="en-US" sz="3000" i="1" dirty="0">
                <a:solidFill>
                  <a:srgbClr val="8A6529"/>
                </a:solidFill>
                <a:latin typeface="Cambria" pitchFamily="34" charset="0"/>
                <a:ea typeface="Cambria" pitchFamily="34" charset="-122"/>
                <a:cs typeface="Cambria" pitchFamily="34" charset="-120"/>
              </a:rPr>
              <a:t>$4.48B</a:t>
            </a:r>
            <a:pPr indent="0" marL="0">
              <a:lnSpc>
                <a:spcPct val="105000"/>
              </a:lnSpc>
              <a:buNone/>
            </a:pPr>
            <a:r>
              <a:rPr lang="en-US" sz="3000" dirty="0">
                <a:solidFill>
                  <a:srgbClr val="10192B"/>
                </a:solidFill>
                <a:latin typeface="Cambria" pitchFamily="34" charset="0"/>
                <a:ea typeface="Cambria" pitchFamily="34" charset="-122"/>
                <a:cs typeface="Cambria" pitchFamily="34" charset="-120"/>
              </a:rPr>
              <a:t> economic engine.</a:t>
            </a:r>
            <a:endParaRPr lang="en-US" sz="3000" dirty="0"/>
          </a:p>
        </p:txBody>
      </p:sp>
      <p:sp>
        <p:nvSpPr>
          <p:cNvPr id="4" name="Text 2"/>
          <p:cNvSpPr/>
          <p:nvPr/>
        </p:nvSpPr>
        <p:spPr>
          <a:xfrm>
            <a:off x="548640" y="2514600"/>
            <a:ext cx="6126480" cy="1188720"/>
          </a:xfrm>
          <a:prstGeom prst="rect">
            <a:avLst/>
          </a:prstGeom>
          <a:noFill/>
          <a:ln/>
        </p:spPr>
        <p:txBody>
          <a:bodyPr wrap="square" lIns="0" tIns="0" rIns="0" bIns="0" rtlCol="0" anchor="ctr"/>
          <a:lstStyle/>
          <a:p>
            <a:pPr indent="0" marL="0">
              <a:lnSpc>
                <a:spcPct val="120000"/>
              </a:lnSpc>
              <a:buNone/>
            </a:pPr>
            <a:r>
              <a:rPr lang="en-US" sz="1250" dirty="0">
                <a:solidFill>
                  <a:srgbClr val="1C2A40"/>
                </a:solidFill>
                <a:latin typeface="Calibri" pitchFamily="34" charset="0"/>
                <a:ea typeface="Calibri" pitchFamily="34" charset="-122"/>
                <a:cs typeface="Calibri" pitchFamily="34" charset="-120"/>
              </a:rPr>
              <a:t>731 N Davis Dr is a 4-unit, 1973-built multifamily property in Warner Robins, Georgia — currently renting well below what a renovated unit commands in this market. The surrounding economy is anchored by Robins Air Force Base, whose workforce has grown 11% in two years and is expected to keep expanding.</a:t>
            </a:r>
            <a:endParaRPr lang="en-US" sz="1250" dirty="0"/>
          </a:p>
        </p:txBody>
      </p:sp>
      <p:sp>
        <p:nvSpPr>
          <p:cNvPr id="5" name="Text 3"/>
          <p:cNvSpPr/>
          <p:nvPr/>
        </p:nvSpPr>
        <p:spPr>
          <a:xfrm>
            <a:off x="548640" y="3703320"/>
            <a:ext cx="6126480" cy="914400"/>
          </a:xfrm>
          <a:prstGeom prst="rect">
            <a:avLst/>
          </a:prstGeom>
          <a:noFill/>
          <a:ln/>
        </p:spPr>
        <p:txBody>
          <a:bodyPr wrap="square" lIns="0" tIns="0" rIns="0" bIns="0" rtlCol="0" anchor="ctr"/>
          <a:lstStyle/>
          <a:p>
            <a:pPr indent="0" marL="0">
              <a:lnSpc>
                <a:spcPct val="120000"/>
              </a:lnSpc>
              <a:buNone/>
            </a:pPr>
            <a:r>
              <a:rPr lang="en-US" sz="1250" dirty="0">
                <a:solidFill>
                  <a:srgbClr val="1C2A40"/>
                </a:solidFill>
                <a:latin typeface="Calibri" pitchFamily="34" charset="0"/>
                <a:ea typeface="Calibri" pitchFamily="34" charset="-122"/>
                <a:cs typeface="Calibri" pitchFamily="34" charset="-120"/>
              </a:rPr>
              <a:t>MANAV's plan: acquire, reposition, and stabilize the asset to capture the gap between in-place and market rent — then return capital to investors through a sale or refinance within three years.</a:t>
            </a:r>
            <a:endParaRPr lang="en-US" sz="1250" dirty="0"/>
          </a:p>
        </p:txBody>
      </p:sp>
      <p:sp>
        <p:nvSpPr>
          <p:cNvPr id="6" name="Shape 4"/>
          <p:cNvSpPr/>
          <p:nvPr/>
        </p:nvSpPr>
        <p:spPr>
          <a:xfrm>
            <a:off x="548640" y="4709160"/>
            <a:ext cx="1783080" cy="365760"/>
          </a:xfrm>
          <a:prstGeom prst="roundRect">
            <a:avLst>
              <a:gd name="adj" fmla="val 50000"/>
            </a:avLst>
          </a:prstGeom>
          <a:solidFill>
            <a:srgbClr val="FBF8F1"/>
          </a:solidFill>
          <a:ln w="12700">
            <a:solidFill>
              <a:srgbClr val="8A6529"/>
            </a:solidFill>
            <a:prstDash val="solid"/>
          </a:ln>
        </p:spPr>
      </p:sp>
      <p:sp>
        <p:nvSpPr>
          <p:cNvPr id="7" name="Text 5"/>
          <p:cNvSpPr/>
          <p:nvPr/>
        </p:nvSpPr>
        <p:spPr>
          <a:xfrm>
            <a:off x="548640" y="4709160"/>
            <a:ext cx="1783080" cy="365760"/>
          </a:xfrm>
          <a:prstGeom prst="rect">
            <a:avLst/>
          </a:prstGeom>
          <a:noFill/>
          <a:ln/>
        </p:spPr>
        <p:txBody>
          <a:bodyPr wrap="square" lIns="0" tIns="0" rIns="0" bIns="0" rtlCol="0" anchor="ctr"/>
          <a:lstStyle/>
          <a:p>
            <a:pPr algn="ctr" indent="0" marL="0">
              <a:buNone/>
            </a:pPr>
            <a:r>
              <a:rPr lang="en-US" sz="850" b="1" spc="50" kern="0" dirty="0">
                <a:solidFill>
                  <a:srgbClr val="8A6529"/>
                </a:solidFill>
                <a:latin typeface="Calibri" pitchFamily="34" charset="0"/>
                <a:ea typeface="Calibri" pitchFamily="34" charset="-122"/>
                <a:cs typeface="Calibri" pitchFamily="34" charset="-120"/>
              </a:rPr>
              <a:t>VALUE-ADD MULTIFAMILY</a:t>
            </a:r>
            <a:endParaRPr lang="en-US" sz="850" dirty="0"/>
          </a:p>
        </p:txBody>
      </p:sp>
      <p:sp>
        <p:nvSpPr>
          <p:cNvPr id="8" name="Shape 6"/>
          <p:cNvSpPr/>
          <p:nvPr/>
        </p:nvSpPr>
        <p:spPr>
          <a:xfrm>
            <a:off x="2423160" y="4709160"/>
            <a:ext cx="1783080" cy="365760"/>
          </a:xfrm>
          <a:prstGeom prst="roundRect">
            <a:avLst>
              <a:gd name="adj" fmla="val 50000"/>
            </a:avLst>
          </a:prstGeom>
          <a:solidFill>
            <a:srgbClr val="FBF8F1"/>
          </a:solidFill>
          <a:ln w="12700">
            <a:solidFill>
              <a:srgbClr val="8A6529"/>
            </a:solidFill>
            <a:prstDash val="solid"/>
          </a:ln>
        </p:spPr>
      </p:sp>
      <p:sp>
        <p:nvSpPr>
          <p:cNvPr id="9" name="Text 7"/>
          <p:cNvSpPr/>
          <p:nvPr/>
        </p:nvSpPr>
        <p:spPr>
          <a:xfrm>
            <a:off x="2423160" y="4709160"/>
            <a:ext cx="1783080" cy="365760"/>
          </a:xfrm>
          <a:prstGeom prst="rect">
            <a:avLst/>
          </a:prstGeom>
          <a:noFill/>
          <a:ln/>
        </p:spPr>
        <p:txBody>
          <a:bodyPr wrap="square" lIns="0" tIns="0" rIns="0" bIns="0" rtlCol="0" anchor="ctr"/>
          <a:lstStyle/>
          <a:p>
            <a:pPr algn="ctr" indent="0" marL="0">
              <a:buNone/>
            </a:pPr>
            <a:r>
              <a:rPr lang="en-US" sz="850" b="1" spc="50" kern="0" dirty="0">
                <a:solidFill>
                  <a:srgbClr val="8A6529"/>
                </a:solidFill>
                <a:latin typeface="Calibri" pitchFamily="34" charset="0"/>
                <a:ea typeface="Calibri" pitchFamily="34" charset="-122"/>
                <a:cs typeface="Calibri" pitchFamily="34" charset="-120"/>
              </a:rPr>
              <a:t>3-YEAR HOLD</a:t>
            </a:r>
            <a:endParaRPr lang="en-US" sz="850" dirty="0"/>
          </a:p>
        </p:txBody>
      </p:sp>
      <p:sp>
        <p:nvSpPr>
          <p:cNvPr id="10" name="Shape 8"/>
          <p:cNvSpPr/>
          <p:nvPr/>
        </p:nvSpPr>
        <p:spPr>
          <a:xfrm>
            <a:off x="4297680" y="4709160"/>
            <a:ext cx="1783080" cy="365760"/>
          </a:xfrm>
          <a:prstGeom prst="roundRect">
            <a:avLst>
              <a:gd name="adj" fmla="val 50000"/>
            </a:avLst>
          </a:prstGeom>
          <a:solidFill>
            <a:srgbClr val="FBF8F1"/>
          </a:solidFill>
          <a:ln w="12700">
            <a:solidFill>
              <a:srgbClr val="8A6529"/>
            </a:solidFill>
            <a:prstDash val="solid"/>
          </a:ln>
        </p:spPr>
      </p:sp>
      <p:sp>
        <p:nvSpPr>
          <p:cNvPr id="11" name="Text 9"/>
          <p:cNvSpPr/>
          <p:nvPr/>
        </p:nvSpPr>
        <p:spPr>
          <a:xfrm>
            <a:off x="4297680" y="4709160"/>
            <a:ext cx="1783080" cy="365760"/>
          </a:xfrm>
          <a:prstGeom prst="rect">
            <a:avLst/>
          </a:prstGeom>
          <a:noFill/>
          <a:ln/>
        </p:spPr>
        <p:txBody>
          <a:bodyPr wrap="square" lIns="0" tIns="0" rIns="0" bIns="0" rtlCol="0" anchor="ctr"/>
          <a:lstStyle/>
          <a:p>
            <a:pPr algn="ctr" indent="0" marL="0">
              <a:buNone/>
            </a:pPr>
            <a:r>
              <a:rPr lang="en-US" sz="850" b="1" spc="50" kern="0" dirty="0">
                <a:solidFill>
                  <a:srgbClr val="8A6529"/>
                </a:solidFill>
                <a:latin typeface="Calibri" pitchFamily="34" charset="0"/>
                <a:ea typeface="Calibri" pitchFamily="34" charset="-122"/>
                <a:cs typeface="Calibri" pitchFamily="34" charset="-120"/>
              </a:rPr>
              <a:t>DIRECT OWNERSHIP</a:t>
            </a:r>
            <a:endParaRPr lang="en-US" sz="850" dirty="0"/>
          </a:p>
        </p:txBody>
      </p:sp>
      <p:sp>
        <p:nvSpPr>
          <p:cNvPr id="12" name="Shape 10"/>
          <p:cNvSpPr/>
          <p:nvPr/>
        </p:nvSpPr>
        <p:spPr>
          <a:xfrm>
            <a:off x="7315200" y="914400"/>
            <a:ext cx="4297680" cy="5120640"/>
          </a:xfrm>
          <a:prstGeom prst="rect">
            <a:avLst/>
          </a:prstGeom>
          <a:solidFill>
            <a:srgbClr val="10192B"/>
          </a:solidFill>
          <a:ln w="12700">
            <a:solidFill>
              <a:srgbClr val="B4863D"/>
            </a:solidFill>
            <a:prstDash val="solid"/>
          </a:ln>
        </p:spPr>
      </p:sp>
      <p:pic>
        <p:nvPicPr>
          <p:cNvPr id="13" name="Image 0" descr="preencoded.png">    </p:cNvPr>
          <p:cNvPicPr>
            <a:picLocks noChangeAspect="1"/>
          </p:cNvPicPr>
          <p:nvPr/>
        </p:nvPicPr>
        <p:blipFill>
          <a:blip r:embed="rId1"/>
          <a:stretch>
            <a:fillRect/>
          </a:stretch>
        </p:blipFill>
        <p:spPr>
          <a:xfrm>
            <a:off x="9144000" y="2788920"/>
            <a:ext cx="640080" cy="640080"/>
          </a:xfrm>
          <a:prstGeom prst="rect">
            <a:avLst/>
          </a:prstGeom>
        </p:spPr>
      </p:pic>
      <p:sp>
        <p:nvSpPr>
          <p:cNvPr id="14" name="Text 11"/>
          <p:cNvSpPr/>
          <p:nvPr/>
        </p:nvSpPr>
        <p:spPr>
          <a:xfrm>
            <a:off x="7680960" y="3520440"/>
            <a:ext cx="3566160" cy="548640"/>
          </a:xfrm>
          <a:prstGeom prst="rect">
            <a:avLst/>
          </a:prstGeom>
          <a:noFill/>
          <a:ln/>
        </p:spPr>
        <p:txBody>
          <a:bodyPr wrap="square" lIns="0" tIns="0" rIns="0" bIns="0" rtlCol="0" anchor="ctr"/>
          <a:lstStyle/>
          <a:p>
            <a:pPr algn="ctr" indent="0" marL="0">
              <a:buNone/>
            </a:pPr>
            <a:r>
              <a:rPr lang="en-US" sz="1050" b="1" spc="100" kern="0" dirty="0">
                <a:solidFill>
                  <a:srgbClr val="D9BC84"/>
                </a:solidFill>
                <a:latin typeface="Calibri" pitchFamily="34" charset="0"/>
                <a:ea typeface="Calibri" pitchFamily="34" charset="-122"/>
                <a:cs typeface="Calibri" pitchFamily="34" charset="-120"/>
              </a:rPr>
              <a:t>Property Photo</a:t>
            </a:r>
            <a:endParaRPr lang="en-US" sz="1050" dirty="0"/>
          </a:p>
          <a:p>
            <a:pPr algn="ctr" indent="0" marL="0">
              <a:buNone/>
            </a:pPr>
            <a:r>
              <a:rPr lang="en-US" sz="1050" b="1" spc="100" kern="0" dirty="0">
                <a:solidFill>
                  <a:srgbClr val="D9BC84"/>
                </a:solidFill>
                <a:latin typeface="Calibri" pitchFamily="34" charset="0"/>
                <a:ea typeface="Calibri" pitchFamily="34" charset="-122"/>
                <a:cs typeface="Calibri" pitchFamily="34" charset="-120"/>
              </a:rPr>
              <a:t>731 N Davis Dr, Warner Robins, GA</a:t>
            </a:r>
            <a:endParaRPr lang="en-US" sz="1050" dirty="0"/>
          </a:p>
        </p:txBody>
      </p:sp>
      <p:sp>
        <p:nvSpPr>
          <p:cNvPr id="15" name="Text 12"/>
          <p:cNvSpPr/>
          <p:nvPr/>
        </p:nvSpPr>
        <p:spPr>
          <a:xfrm>
            <a:off x="7680960" y="5577840"/>
            <a:ext cx="3566160" cy="274320"/>
          </a:xfrm>
          <a:prstGeom prst="rect">
            <a:avLst/>
          </a:prstGeom>
          <a:noFill/>
          <a:ln/>
        </p:spPr>
        <p:txBody>
          <a:bodyPr wrap="square" lIns="0" tIns="0" rIns="0" bIns="0" rtlCol="0" anchor="ctr"/>
          <a:lstStyle/>
          <a:p>
            <a:pPr algn="ctr" indent="0" marL="0">
              <a:buNone/>
            </a:pPr>
            <a:r>
              <a:rPr lang="en-US" sz="800" spc="100" kern="0" dirty="0">
                <a:solidFill>
                  <a:srgbClr val="D9BC84"/>
                </a:solidFill>
                <a:latin typeface="Calibri" pitchFamily="34" charset="0"/>
                <a:ea typeface="Calibri" pitchFamily="34" charset="-122"/>
                <a:cs typeface="Calibri" pitchFamily="34" charset="-120"/>
              </a:rPr>
              <a:t>PLACEHOLDER — ADD REAL PHOTOGRAPHY</a:t>
            </a:r>
            <a:endParaRPr lang="en-US" sz="800" dirty="0"/>
          </a:p>
        </p:txBody>
      </p:sp>
      <p:sp>
        <p:nvSpPr>
          <p:cNvPr id="16" name="Text 13"/>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17" name="Text 14"/>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B4863D"/>
                </a:solidFill>
                <a:latin typeface="Calibri" pitchFamily="34" charset="0"/>
                <a:ea typeface="Calibri" pitchFamily="34" charset="-122"/>
                <a:cs typeface="Calibri" pitchFamily="34" charset="-120"/>
              </a:rPr>
              <a:t>MARKET OVERVIEW</a:t>
            </a:r>
            <a:endParaRPr lang="en-US" sz="1100" dirty="0"/>
          </a:p>
        </p:txBody>
      </p:sp>
      <p:sp>
        <p:nvSpPr>
          <p:cNvPr id="3" name="Text 1"/>
          <p:cNvSpPr/>
          <p:nvPr/>
        </p:nvSpPr>
        <p:spPr>
          <a:xfrm>
            <a:off x="548640" y="822960"/>
            <a:ext cx="9601200" cy="640080"/>
          </a:xfrm>
          <a:prstGeom prst="rect">
            <a:avLst/>
          </a:prstGeom>
          <a:noFill/>
          <a:ln/>
        </p:spPr>
        <p:txBody>
          <a:bodyPr wrap="square" lIns="0" tIns="0" rIns="0" bIns="0" rtlCol="0" anchor="ctr"/>
          <a:lstStyle/>
          <a:p>
            <a:pPr indent="0" marL="0">
              <a:buNone/>
            </a:pPr>
            <a:r>
              <a:rPr lang="en-US" sz="2600" dirty="0">
                <a:solidFill>
                  <a:srgbClr val="F4EFE3"/>
                </a:solidFill>
                <a:latin typeface="Cambria" pitchFamily="34" charset="0"/>
                <a:ea typeface="Cambria" pitchFamily="34" charset="-122"/>
                <a:cs typeface="Cambria" pitchFamily="34" charset="-120"/>
              </a:rPr>
              <a:t>Why Warner Robins is the next Middle Georgia play.</a:t>
            </a:r>
            <a:endParaRPr lang="en-US" sz="2600" dirty="0"/>
          </a:p>
        </p:txBody>
      </p:sp>
      <p:sp>
        <p:nvSpPr>
          <p:cNvPr id="4" name="Text 2"/>
          <p:cNvSpPr/>
          <p:nvPr/>
        </p:nvSpPr>
        <p:spPr>
          <a:xfrm>
            <a:off x="548640" y="1417320"/>
            <a:ext cx="9601200" cy="365760"/>
          </a:xfrm>
          <a:prstGeom prst="rect">
            <a:avLst/>
          </a:prstGeom>
          <a:noFill/>
          <a:ln/>
        </p:spPr>
        <p:txBody>
          <a:bodyPr wrap="square" lIns="0" tIns="0" rIns="0" bIns="0" rtlCol="0" anchor="ctr"/>
          <a:lstStyle/>
          <a:p>
            <a:pPr indent="0" marL="0">
              <a:buNone/>
            </a:pPr>
            <a:r>
              <a:rPr lang="en-US" sz="1200" dirty="0">
                <a:solidFill>
                  <a:srgbClr val="A9B2C4"/>
                </a:solidFill>
                <a:latin typeface="Calibri" pitchFamily="34" charset="0"/>
                <a:ea typeface="Calibri" pitchFamily="34" charset="-122"/>
                <a:cs typeface="Calibri" pitchFamily="34" charset="-120"/>
              </a:rPr>
              <a:t>Explosive base-driven employment growth, tightening rental demand, and a housing market still catching up.</a:t>
            </a:r>
            <a:endParaRPr lang="en-US" sz="1200" dirty="0"/>
          </a:p>
        </p:txBody>
      </p:sp>
      <p:sp>
        <p:nvSpPr>
          <p:cNvPr id="5" name="Shape 3"/>
          <p:cNvSpPr/>
          <p:nvPr/>
        </p:nvSpPr>
        <p:spPr>
          <a:xfrm>
            <a:off x="548640" y="2103120"/>
            <a:ext cx="3566160" cy="2651760"/>
          </a:xfrm>
          <a:prstGeom prst="rect">
            <a:avLst/>
          </a:prstGeom>
          <a:solidFill>
            <a:srgbClr val="1C2A40"/>
          </a:solidFill>
          <a:ln w="12700">
            <a:solidFill>
              <a:srgbClr val="33415A"/>
            </a:solidFill>
            <a:prstDash val="solid"/>
          </a:ln>
        </p:spPr>
      </p:sp>
      <p:pic>
        <p:nvPicPr>
          <p:cNvPr id="6" name="Image 0" descr="preencoded.png">    </p:cNvPr>
          <p:cNvPicPr>
            <a:picLocks noChangeAspect="1"/>
          </p:cNvPicPr>
          <p:nvPr/>
        </p:nvPicPr>
        <p:blipFill>
          <a:blip r:embed="rId1"/>
          <a:stretch>
            <a:fillRect/>
          </a:stretch>
        </p:blipFill>
        <p:spPr>
          <a:xfrm>
            <a:off x="868680" y="2423160"/>
            <a:ext cx="502920" cy="502920"/>
          </a:xfrm>
          <a:prstGeom prst="rect">
            <a:avLst/>
          </a:prstGeom>
        </p:spPr>
      </p:pic>
      <p:sp>
        <p:nvSpPr>
          <p:cNvPr id="7" name="Text 4"/>
          <p:cNvSpPr/>
          <p:nvPr/>
        </p:nvSpPr>
        <p:spPr>
          <a:xfrm>
            <a:off x="822960" y="3063240"/>
            <a:ext cx="3017520" cy="548640"/>
          </a:xfrm>
          <a:prstGeom prst="rect">
            <a:avLst/>
          </a:prstGeom>
          <a:noFill/>
          <a:ln/>
        </p:spPr>
        <p:txBody>
          <a:bodyPr wrap="square" lIns="0" tIns="0" rIns="0" bIns="0" rtlCol="0" anchor="ctr"/>
          <a:lstStyle/>
          <a:p>
            <a:pPr indent="0" marL="0">
              <a:buNone/>
            </a:pPr>
            <a:r>
              <a:rPr lang="en-US" sz="2800" dirty="0">
                <a:solidFill>
                  <a:srgbClr val="B4863D"/>
                </a:solidFill>
                <a:latin typeface="Cambria" pitchFamily="34" charset="0"/>
                <a:ea typeface="Cambria" pitchFamily="34" charset="-122"/>
                <a:cs typeface="Cambria" pitchFamily="34" charset="-120"/>
              </a:rPr>
              <a:t>$4.48B</a:t>
            </a:r>
            <a:endParaRPr lang="en-US" sz="2800" dirty="0"/>
          </a:p>
        </p:txBody>
      </p:sp>
      <p:sp>
        <p:nvSpPr>
          <p:cNvPr id="8" name="Text 5"/>
          <p:cNvSpPr/>
          <p:nvPr/>
        </p:nvSpPr>
        <p:spPr>
          <a:xfrm>
            <a:off x="822960" y="3657600"/>
            <a:ext cx="3017520" cy="91440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Robins AFB economic impact in 2025 — the region's single largest economic driver.</a:t>
            </a:r>
            <a:endParaRPr lang="en-US" sz="1100" dirty="0"/>
          </a:p>
        </p:txBody>
      </p:sp>
      <p:sp>
        <p:nvSpPr>
          <p:cNvPr id="9" name="Shape 6"/>
          <p:cNvSpPr/>
          <p:nvPr/>
        </p:nvSpPr>
        <p:spPr>
          <a:xfrm>
            <a:off x="4343400" y="2103120"/>
            <a:ext cx="3566160" cy="2651760"/>
          </a:xfrm>
          <a:prstGeom prst="rect">
            <a:avLst/>
          </a:prstGeom>
          <a:solidFill>
            <a:srgbClr val="1C2A40"/>
          </a:solidFill>
          <a:ln w="12700">
            <a:solidFill>
              <a:srgbClr val="33415A"/>
            </a:solidFill>
            <a:prstDash val="solid"/>
          </a:ln>
        </p:spPr>
      </p:sp>
      <p:pic>
        <p:nvPicPr>
          <p:cNvPr id="10" name="Image 1" descr="preencoded.png">    </p:cNvPr>
          <p:cNvPicPr>
            <a:picLocks noChangeAspect="1"/>
          </p:cNvPicPr>
          <p:nvPr/>
        </p:nvPicPr>
        <p:blipFill>
          <a:blip r:embed="rId2"/>
          <a:stretch>
            <a:fillRect/>
          </a:stretch>
        </p:blipFill>
        <p:spPr>
          <a:xfrm>
            <a:off x="4663440" y="2423160"/>
            <a:ext cx="502920" cy="502920"/>
          </a:xfrm>
          <a:prstGeom prst="rect">
            <a:avLst/>
          </a:prstGeom>
        </p:spPr>
      </p:pic>
      <p:sp>
        <p:nvSpPr>
          <p:cNvPr id="11" name="Text 7"/>
          <p:cNvSpPr/>
          <p:nvPr/>
        </p:nvSpPr>
        <p:spPr>
          <a:xfrm>
            <a:off x="4617720" y="3063240"/>
            <a:ext cx="3017520" cy="548640"/>
          </a:xfrm>
          <a:prstGeom prst="rect">
            <a:avLst/>
          </a:prstGeom>
          <a:noFill/>
          <a:ln/>
        </p:spPr>
        <p:txBody>
          <a:bodyPr wrap="square" lIns="0" tIns="0" rIns="0" bIns="0" rtlCol="0" anchor="ctr"/>
          <a:lstStyle/>
          <a:p>
            <a:pPr indent="0" marL="0">
              <a:buNone/>
            </a:pPr>
            <a:r>
              <a:rPr lang="en-US" sz="2800" dirty="0">
                <a:solidFill>
                  <a:srgbClr val="B4863D"/>
                </a:solidFill>
                <a:latin typeface="Cambria" pitchFamily="34" charset="0"/>
                <a:ea typeface="Cambria" pitchFamily="34" charset="-122"/>
                <a:cs typeface="Cambria" pitchFamily="34" charset="-120"/>
              </a:rPr>
              <a:t>21,000+</a:t>
            </a:r>
            <a:endParaRPr lang="en-US" sz="2800" dirty="0"/>
          </a:p>
        </p:txBody>
      </p:sp>
      <p:sp>
        <p:nvSpPr>
          <p:cNvPr id="12" name="Text 8"/>
          <p:cNvSpPr/>
          <p:nvPr/>
        </p:nvSpPr>
        <p:spPr>
          <a:xfrm>
            <a:off x="4617720" y="3657600"/>
            <a:ext cx="3017520" cy="91440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Base employees — up 11% in two years, roughly a third of all regional jobs.</a:t>
            </a:r>
            <a:endParaRPr lang="en-US" sz="1100" dirty="0"/>
          </a:p>
        </p:txBody>
      </p:sp>
      <p:sp>
        <p:nvSpPr>
          <p:cNvPr id="13" name="Shape 9"/>
          <p:cNvSpPr/>
          <p:nvPr/>
        </p:nvSpPr>
        <p:spPr>
          <a:xfrm>
            <a:off x="8138160" y="2103120"/>
            <a:ext cx="3566160" cy="2651760"/>
          </a:xfrm>
          <a:prstGeom prst="rect">
            <a:avLst/>
          </a:prstGeom>
          <a:solidFill>
            <a:srgbClr val="1C2A40"/>
          </a:solidFill>
          <a:ln w="12700">
            <a:solidFill>
              <a:srgbClr val="33415A"/>
            </a:solidFill>
            <a:prstDash val="solid"/>
          </a:ln>
        </p:spPr>
      </p:sp>
      <p:pic>
        <p:nvPicPr>
          <p:cNvPr id="14" name="Image 2" descr="preencoded.png">    </p:cNvPr>
          <p:cNvPicPr>
            <a:picLocks noChangeAspect="1"/>
          </p:cNvPicPr>
          <p:nvPr/>
        </p:nvPicPr>
        <p:blipFill>
          <a:blip r:embed="rId3"/>
          <a:stretch>
            <a:fillRect/>
          </a:stretch>
        </p:blipFill>
        <p:spPr>
          <a:xfrm>
            <a:off x="8458200" y="2423160"/>
            <a:ext cx="502920" cy="502920"/>
          </a:xfrm>
          <a:prstGeom prst="rect">
            <a:avLst/>
          </a:prstGeom>
        </p:spPr>
      </p:pic>
      <p:sp>
        <p:nvSpPr>
          <p:cNvPr id="15" name="Text 10"/>
          <p:cNvSpPr/>
          <p:nvPr/>
        </p:nvSpPr>
        <p:spPr>
          <a:xfrm>
            <a:off x="8412480" y="3063240"/>
            <a:ext cx="3017520" cy="548640"/>
          </a:xfrm>
          <a:prstGeom prst="rect">
            <a:avLst/>
          </a:prstGeom>
          <a:noFill/>
          <a:ln/>
        </p:spPr>
        <p:txBody>
          <a:bodyPr wrap="square" lIns="0" tIns="0" rIns="0" bIns="0" rtlCol="0" anchor="ctr"/>
          <a:lstStyle/>
          <a:p>
            <a:pPr indent="0" marL="0">
              <a:buNone/>
            </a:pPr>
            <a:r>
              <a:rPr lang="en-US" sz="2800" dirty="0">
                <a:solidFill>
                  <a:srgbClr val="B4863D"/>
                </a:solidFill>
                <a:latin typeface="Cambria" pitchFamily="34" charset="0"/>
                <a:ea typeface="Cambria" pitchFamily="34" charset="-122"/>
                <a:cs typeface="Cambria" pitchFamily="34" charset="-120"/>
              </a:rPr>
              <a:t>~2,000</a:t>
            </a:r>
            <a:endParaRPr lang="en-US" sz="2800" dirty="0"/>
          </a:p>
        </p:txBody>
      </p:sp>
      <p:sp>
        <p:nvSpPr>
          <p:cNvPr id="16" name="Text 11"/>
          <p:cNvSpPr/>
          <p:nvPr/>
        </p:nvSpPr>
        <p:spPr>
          <a:xfrm>
            <a:off x="8412480" y="3657600"/>
            <a:ext cx="3017520" cy="91440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Additional households needing housing from base workforce growth alone.</a:t>
            </a:r>
            <a:endParaRPr lang="en-US" sz="1100" dirty="0"/>
          </a:p>
        </p:txBody>
      </p:sp>
      <p:sp>
        <p:nvSpPr>
          <p:cNvPr id="17" name="Text 12"/>
          <p:cNvSpPr/>
          <p:nvPr/>
        </p:nvSpPr>
        <p:spPr>
          <a:xfrm>
            <a:off x="548640" y="5029200"/>
            <a:ext cx="10515600" cy="457200"/>
          </a:xfrm>
          <a:prstGeom prst="rect">
            <a:avLst/>
          </a:prstGeom>
          <a:noFill/>
          <a:ln/>
        </p:spPr>
        <p:txBody>
          <a:bodyPr wrap="square" lIns="0" tIns="0" rIns="0" bIns="0" rtlCol="0" anchor="ctr"/>
          <a:lstStyle/>
          <a:p>
            <a:pPr indent="0" marL="0">
              <a:buNone/>
            </a:pPr>
            <a:r>
              <a:rPr lang="en-US" sz="900" dirty="0">
                <a:solidFill>
                  <a:srgbClr val="8592AA"/>
                </a:solidFill>
                <a:latin typeface="Calibri" pitchFamily="34" charset="0"/>
                <a:ea typeface="Calibri" pitchFamily="34" charset="-122"/>
                <a:cs typeface="Calibri" pitchFamily="34" charset="-120"/>
              </a:rPr>
              <a:t>Sources: 13WMAZ, “Robins Air Force Base drives $4.48 billion economic impact,” 2026 State of the Base Address; Walton Dean Realty, “Robins AFB &amp; Houston County Housing Market,” 2026.</a:t>
            </a:r>
            <a:endParaRPr lang="en-US" sz="900" dirty="0"/>
          </a:p>
        </p:txBody>
      </p:sp>
      <p:sp>
        <p:nvSpPr>
          <p:cNvPr id="18" name="Text 13"/>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19" name="Text 14"/>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THE DEAL AT A GLANCE</a:t>
            </a:r>
            <a:endParaRPr lang="en-US" sz="1100" dirty="0"/>
          </a:p>
        </p:txBody>
      </p:sp>
      <p:sp>
        <p:nvSpPr>
          <p:cNvPr id="3" name="Text 1"/>
          <p:cNvSpPr/>
          <p:nvPr/>
        </p:nvSpPr>
        <p:spPr>
          <a:xfrm>
            <a:off x="548640" y="822960"/>
            <a:ext cx="9144000" cy="548640"/>
          </a:xfrm>
          <a:prstGeom prst="rect">
            <a:avLst/>
          </a:prstGeom>
          <a:noFill/>
          <a:ln/>
        </p:spPr>
        <p:txBody>
          <a:bodyPr wrap="square" lIns="0" tIns="0" rIns="0" bIns="0" rtlCol="0" anchor="ctr"/>
          <a:lstStyle/>
          <a:p>
            <a:pPr indent="0" marL="0">
              <a:buNone/>
            </a:pPr>
            <a:r>
              <a:rPr lang="en-US" sz="2800" dirty="0">
                <a:solidFill>
                  <a:srgbClr val="10192B"/>
                </a:solidFill>
                <a:latin typeface="Cambria" pitchFamily="34" charset="0"/>
                <a:ea typeface="Cambria" pitchFamily="34" charset="-122"/>
                <a:cs typeface="Cambria" pitchFamily="34" charset="-120"/>
              </a:rPr>
              <a:t>Snapshot of key facts and targets.</a:t>
            </a:r>
            <a:endParaRPr lang="en-US" sz="2800" dirty="0"/>
          </a:p>
        </p:txBody>
      </p:sp>
      <p:sp>
        <p:nvSpPr>
          <p:cNvPr id="4" name="Shape 2"/>
          <p:cNvSpPr/>
          <p:nvPr/>
        </p:nvSpPr>
        <p:spPr>
          <a:xfrm>
            <a:off x="548640" y="1691640"/>
            <a:ext cx="1725168" cy="1371600"/>
          </a:xfrm>
          <a:prstGeom prst="rect">
            <a:avLst/>
          </a:prstGeom>
          <a:solidFill>
            <a:srgbClr val="FBF8F1"/>
          </a:solidFill>
          <a:ln w="9525">
            <a:solidFill>
              <a:srgbClr val="D8CFB6"/>
            </a:solidFill>
            <a:prstDash val="solid"/>
          </a:ln>
        </p:spPr>
      </p:sp>
      <p:sp>
        <p:nvSpPr>
          <p:cNvPr id="5" name="Text 3"/>
          <p:cNvSpPr/>
          <p:nvPr/>
        </p:nvSpPr>
        <p:spPr>
          <a:xfrm>
            <a:off x="658368" y="1828800"/>
            <a:ext cx="1478280" cy="594360"/>
          </a:xfrm>
          <a:prstGeom prst="rect">
            <a:avLst/>
          </a:prstGeom>
          <a:noFill/>
          <a:ln/>
        </p:spPr>
        <p:txBody>
          <a:bodyPr wrap="square" lIns="0" tIns="0" rIns="0" bIns="0" rtlCol="0" anchor="ctr"/>
          <a:lstStyle/>
          <a:p>
            <a:pPr indent="0" marL="0">
              <a:buNone/>
            </a:pPr>
            <a:r>
              <a:rPr lang="en-US" sz="2400" dirty="0">
                <a:solidFill>
                  <a:srgbClr val="10192B"/>
                </a:solidFill>
                <a:latin typeface="Cambria" pitchFamily="34" charset="0"/>
                <a:ea typeface="Cambria" pitchFamily="34" charset="-122"/>
                <a:cs typeface="Cambria" pitchFamily="34" charset="-120"/>
              </a:rPr>
              <a:t>$1.0M</a:t>
            </a:r>
            <a:endParaRPr lang="en-US" sz="2400" dirty="0"/>
          </a:p>
        </p:txBody>
      </p:sp>
      <p:sp>
        <p:nvSpPr>
          <p:cNvPr id="6" name="Text 4"/>
          <p:cNvSpPr/>
          <p:nvPr/>
        </p:nvSpPr>
        <p:spPr>
          <a:xfrm>
            <a:off x="6583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Purchase Price</a:t>
            </a:r>
            <a:endParaRPr lang="en-US" sz="950" dirty="0"/>
          </a:p>
        </p:txBody>
      </p:sp>
      <p:sp>
        <p:nvSpPr>
          <p:cNvPr id="7" name="Shape 5"/>
          <p:cNvSpPr/>
          <p:nvPr/>
        </p:nvSpPr>
        <p:spPr>
          <a:xfrm>
            <a:off x="2301240" y="1691640"/>
            <a:ext cx="1725168" cy="1371600"/>
          </a:xfrm>
          <a:prstGeom prst="rect">
            <a:avLst/>
          </a:prstGeom>
          <a:solidFill>
            <a:srgbClr val="FBF8F1"/>
          </a:solidFill>
          <a:ln w="9525">
            <a:solidFill>
              <a:srgbClr val="D8CFB6"/>
            </a:solidFill>
            <a:prstDash val="solid"/>
          </a:ln>
        </p:spPr>
      </p:sp>
      <p:sp>
        <p:nvSpPr>
          <p:cNvPr id="8" name="Text 6"/>
          <p:cNvSpPr/>
          <p:nvPr/>
        </p:nvSpPr>
        <p:spPr>
          <a:xfrm>
            <a:off x="2410968" y="1828800"/>
            <a:ext cx="1478280" cy="594360"/>
          </a:xfrm>
          <a:prstGeom prst="rect">
            <a:avLst/>
          </a:prstGeom>
          <a:noFill/>
          <a:ln/>
        </p:spPr>
        <p:txBody>
          <a:bodyPr wrap="square" lIns="0" tIns="0" rIns="0" bIns="0" rtlCol="0" anchor="ctr"/>
          <a:lstStyle/>
          <a:p>
            <a:pPr indent="0" marL="0">
              <a:buNone/>
            </a:pPr>
            <a:r>
              <a:rPr lang="en-US" sz="2400" dirty="0">
                <a:solidFill>
                  <a:srgbClr val="10192B"/>
                </a:solidFill>
                <a:latin typeface="Cambria" pitchFamily="34" charset="0"/>
                <a:ea typeface="Cambria" pitchFamily="34" charset="-122"/>
                <a:cs typeface="Cambria" pitchFamily="34" charset="-120"/>
              </a:rPr>
              <a:t>4</a:t>
            </a:r>
            <a:endParaRPr lang="en-US" sz="2400" dirty="0"/>
          </a:p>
        </p:txBody>
      </p:sp>
      <p:sp>
        <p:nvSpPr>
          <p:cNvPr id="9" name="Text 7"/>
          <p:cNvSpPr/>
          <p:nvPr/>
        </p:nvSpPr>
        <p:spPr>
          <a:xfrm>
            <a:off x="24109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Residential Units</a:t>
            </a:r>
            <a:endParaRPr lang="en-US" sz="950" dirty="0"/>
          </a:p>
        </p:txBody>
      </p:sp>
      <p:sp>
        <p:nvSpPr>
          <p:cNvPr id="10" name="Shape 8"/>
          <p:cNvSpPr/>
          <p:nvPr/>
        </p:nvSpPr>
        <p:spPr>
          <a:xfrm>
            <a:off x="4053840" y="1691640"/>
            <a:ext cx="1725168" cy="1371600"/>
          </a:xfrm>
          <a:prstGeom prst="rect">
            <a:avLst/>
          </a:prstGeom>
          <a:solidFill>
            <a:srgbClr val="FBF8F1"/>
          </a:solidFill>
          <a:ln w="9525">
            <a:solidFill>
              <a:srgbClr val="D8CFB6"/>
            </a:solidFill>
            <a:prstDash val="solid"/>
          </a:ln>
        </p:spPr>
      </p:sp>
      <p:sp>
        <p:nvSpPr>
          <p:cNvPr id="11" name="Text 9"/>
          <p:cNvSpPr/>
          <p:nvPr/>
        </p:nvSpPr>
        <p:spPr>
          <a:xfrm>
            <a:off x="4163568" y="1828800"/>
            <a:ext cx="1478280" cy="594360"/>
          </a:xfrm>
          <a:prstGeom prst="rect">
            <a:avLst/>
          </a:prstGeom>
          <a:noFill/>
          <a:ln/>
        </p:spPr>
        <p:txBody>
          <a:bodyPr wrap="square" lIns="0" tIns="0" rIns="0" bIns="0" rtlCol="0" anchor="ctr"/>
          <a:lstStyle/>
          <a:p>
            <a:pPr indent="0" marL="0">
              <a:buNone/>
            </a:pPr>
            <a:r>
              <a:rPr lang="en-US" sz="2400" dirty="0">
                <a:solidFill>
                  <a:srgbClr val="10192B"/>
                </a:solidFill>
                <a:latin typeface="Cambria" pitchFamily="34" charset="0"/>
                <a:ea typeface="Cambria" pitchFamily="34" charset="-122"/>
                <a:cs typeface="Cambria" pitchFamily="34" charset="-120"/>
              </a:rPr>
              <a:t>$250K</a:t>
            </a:r>
            <a:endParaRPr lang="en-US" sz="2400" dirty="0"/>
          </a:p>
        </p:txBody>
      </p:sp>
      <p:sp>
        <p:nvSpPr>
          <p:cNvPr id="12" name="Text 10"/>
          <p:cNvSpPr/>
          <p:nvPr/>
        </p:nvSpPr>
        <p:spPr>
          <a:xfrm>
            <a:off x="41635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Price Per Unit</a:t>
            </a:r>
            <a:endParaRPr lang="en-US" sz="950" dirty="0"/>
          </a:p>
        </p:txBody>
      </p:sp>
      <p:sp>
        <p:nvSpPr>
          <p:cNvPr id="13" name="Shape 11"/>
          <p:cNvSpPr/>
          <p:nvPr/>
        </p:nvSpPr>
        <p:spPr>
          <a:xfrm>
            <a:off x="5806440" y="1691640"/>
            <a:ext cx="1725168" cy="1371600"/>
          </a:xfrm>
          <a:prstGeom prst="rect">
            <a:avLst/>
          </a:prstGeom>
          <a:solidFill>
            <a:srgbClr val="FBF8F1"/>
          </a:solidFill>
          <a:ln w="9525">
            <a:solidFill>
              <a:srgbClr val="D8CFB6"/>
            </a:solidFill>
            <a:prstDash val="solid"/>
          </a:ln>
        </p:spPr>
      </p:sp>
      <p:sp>
        <p:nvSpPr>
          <p:cNvPr id="14" name="Text 12"/>
          <p:cNvSpPr/>
          <p:nvPr/>
        </p:nvSpPr>
        <p:spPr>
          <a:xfrm>
            <a:off x="5916168" y="1828800"/>
            <a:ext cx="1478280" cy="594360"/>
          </a:xfrm>
          <a:prstGeom prst="rect">
            <a:avLst/>
          </a:prstGeom>
          <a:noFill/>
          <a:ln/>
        </p:spPr>
        <p:txBody>
          <a:bodyPr wrap="square" lIns="0" tIns="0" rIns="0" bIns="0" rtlCol="0" anchor="ctr"/>
          <a:lstStyle/>
          <a:p>
            <a:pPr indent="0" marL="0">
              <a:buNone/>
            </a:pPr>
            <a:r>
              <a:rPr lang="en-US" sz="2400" dirty="0">
                <a:solidFill>
                  <a:srgbClr val="8A6529"/>
                </a:solidFill>
                <a:latin typeface="Cambria" pitchFamily="34" charset="0"/>
                <a:ea typeface="Cambria" pitchFamily="34" charset="-122"/>
                <a:cs typeface="Cambria" pitchFamily="34" charset="-120"/>
              </a:rPr>
              <a:t>8.5%</a:t>
            </a:r>
            <a:endParaRPr lang="en-US" sz="2400" dirty="0"/>
          </a:p>
        </p:txBody>
      </p:sp>
      <p:sp>
        <p:nvSpPr>
          <p:cNvPr id="15" name="Text 13"/>
          <p:cNvSpPr/>
          <p:nvPr/>
        </p:nvSpPr>
        <p:spPr>
          <a:xfrm>
            <a:off x="59161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Target Cash-on-Cash Return</a:t>
            </a:r>
            <a:endParaRPr lang="en-US" sz="950" dirty="0"/>
          </a:p>
        </p:txBody>
      </p:sp>
      <p:sp>
        <p:nvSpPr>
          <p:cNvPr id="16" name="Shape 14"/>
          <p:cNvSpPr/>
          <p:nvPr/>
        </p:nvSpPr>
        <p:spPr>
          <a:xfrm>
            <a:off x="7559040" y="1691640"/>
            <a:ext cx="1725168" cy="1371600"/>
          </a:xfrm>
          <a:prstGeom prst="rect">
            <a:avLst/>
          </a:prstGeom>
          <a:solidFill>
            <a:srgbClr val="FBF8F1"/>
          </a:solidFill>
          <a:ln w="9525">
            <a:solidFill>
              <a:srgbClr val="D8CFB6"/>
            </a:solidFill>
            <a:prstDash val="solid"/>
          </a:ln>
        </p:spPr>
      </p:sp>
      <p:sp>
        <p:nvSpPr>
          <p:cNvPr id="17" name="Text 15"/>
          <p:cNvSpPr/>
          <p:nvPr/>
        </p:nvSpPr>
        <p:spPr>
          <a:xfrm>
            <a:off x="7668768" y="1828800"/>
            <a:ext cx="1478280" cy="594360"/>
          </a:xfrm>
          <a:prstGeom prst="rect">
            <a:avLst/>
          </a:prstGeom>
          <a:noFill/>
          <a:ln/>
        </p:spPr>
        <p:txBody>
          <a:bodyPr wrap="square" lIns="0" tIns="0" rIns="0" bIns="0" rtlCol="0" anchor="ctr"/>
          <a:lstStyle/>
          <a:p>
            <a:pPr indent="0" marL="0">
              <a:buNone/>
            </a:pPr>
            <a:r>
              <a:rPr lang="en-US" sz="1900" dirty="0">
                <a:solidFill>
                  <a:srgbClr val="8A6529"/>
                </a:solidFill>
                <a:latin typeface="Cambria" pitchFamily="34" charset="0"/>
                <a:ea typeface="Cambria" pitchFamily="34" charset="-122"/>
                <a:cs typeface="Cambria" pitchFamily="34" charset="-120"/>
              </a:rPr>
              <a:t>Up to 15%</a:t>
            </a:r>
            <a:endParaRPr lang="en-US" sz="1900" dirty="0"/>
          </a:p>
        </p:txBody>
      </p:sp>
      <p:sp>
        <p:nvSpPr>
          <p:cNvPr id="18" name="Text 16"/>
          <p:cNvSpPr/>
          <p:nvPr/>
        </p:nvSpPr>
        <p:spPr>
          <a:xfrm>
            <a:off x="76687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Target Tax-Deferred IRR</a:t>
            </a:r>
            <a:endParaRPr lang="en-US" sz="950" dirty="0"/>
          </a:p>
        </p:txBody>
      </p:sp>
      <p:sp>
        <p:nvSpPr>
          <p:cNvPr id="19" name="Shape 17"/>
          <p:cNvSpPr/>
          <p:nvPr/>
        </p:nvSpPr>
        <p:spPr>
          <a:xfrm>
            <a:off x="9311640" y="1691640"/>
            <a:ext cx="1725168" cy="1371600"/>
          </a:xfrm>
          <a:prstGeom prst="rect">
            <a:avLst/>
          </a:prstGeom>
          <a:solidFill>
            <a:srgbClr val="FBF8F1"/>
          </a:solidFill>
          <a:ln w="9525">
            <a:solidFill>
              <a:srgbClr val="D8CFB6"/>
            </a:solidFill>
            <a:prstDash val="solid"/>
          </a:ln>
        </p:spPr>
      </p:sp>
      <p:sp>
        <p:nvSpPr>
          <p:cNvPr id="20" name="Text 18"/>
          <p:cNvSpPr/>
          <p:nvPr/>
        </p:nvSpPr>
        <p:spPr>
          <a:xfrm>
            <a:off x="9421368" y="1828800"/>
            <a:ext cx="1478280" cy="594360"/>
          </a:xfrm>
          <a:prstGeom prst="rect">
            <a:avLst/>
          </a:prstGeom>
          <a:noFill/>
          <a:ln/>
        </p:spPr>
        <p:txBody>
          <a:bodyPr wrap="square" lIns="0" tIns="0" rIns="0" bIns="0" rtlCol="0" anchor="ctr"/>
          <a:lstStyle/>
          <a:p>
            <a:pPr indent="0" marL="0">
              <a:buNone/>
            </a:pPr>
            <a:r>
              <a:rPr lang="en-US" sz="2400" dirty="0">
                <a:solidFill>
                  <a:srgbClr val="10192B"/>
                </a:solidFill>
                <a:latin typeface="Cambria" pitchFamily="34" charset="0"/>
                <a:ea typeface="Cambria" pitchFamily="34" charset="-122"/>
                <a:cs typeface="Cambria" pitchFamily="34" charset="-120"/>
              </a:rPr>
              <a:t>3 Yrs</a:t>
            </a:r>
            <a:endParaRPr lang="en-US" sz="2400" dirty="0"/>
          </a:p>
        </p:txBody>
      </p:sp>
      <p:sp>
        <p:nvSpPr>
          <p:cNvPr id="21" name="Text 19"/>
          <p:cNvSpPr/>
          <p:nvPr/>
        </p:nvSpPr>
        <p:spPr>
          <a:xfrm>
            <a:off x="9421368" y="2450592"/>
            <a:ext cx="1478280" cy="548640"/>
          </a:xfrm>
          <a:prstGeom prst="rect">
            <a:avLst/>
          </a:prstGeom>
          <a:noFill/>
          <a:ln/>
        </p:spPr>
        <p:txBody>
          <a:bodyPr wrap="square" lIns="0" tIns="0" rIns="0" bIns="0" rtlCol="0" anchor="ctr"/>
          <a:lstStyle/>
          <a:p>
            <a:pPr indent="0" marL="0">
              <a:lnSpc>
                <a:spcPct val="115000"/>
              </a:lnSpc>
              <a:buNone/>
            </a:pPr>
            <a:r>
              <a:rPr lang="en-US" sz="950" dirty="0">
                <a:solidFill>
                  <a:srgbClr val="616B80"/>
                </a:solidFill>
                <a:latin typeface="Calibri" pitchFamily="34" charset="0"/>
                <a:ea typeface="Calibri" pitchFamily="34" charset="-122"/>
                <a:cs typeface="Calibri" pitchFamily="34" charset="-120"/>
              </a:rPr>
              <a:t>Hold Period</a:t>
            </a:r>
            <a:endParaRPr lang="en-US" sz="950" dirty="0"/>
          </a:p>
        </p:txBody>
      </p:sp>
      <p:sp>
        <p:nvSpPr>
          <p:cNvPr id="22" name="Text 20"/>
          <p:cNvSpPr/>
          <p:nvPr/>
        </p:nvSpPr>
        <p:spPr>
          <a:xfrm>
            <a:off x="548640" y="3657600"/>
            <a:ext cx="5120640" cy="365760"/>
          </a:xfrm>
          <a:prstGeom prst="rect">
            <a:avLst/>
          </a:prstGeom>
          <a:noFill/>
          <a:ln/>
        </p:spPr>
        <p:txBody>
          <a:bodyPr wrap="square" lIns="0" tIns="0" rIns="0" bIns="0" rtlCol="0" anchor="ctr"/>
          <a:lstStyle/>
          <a:p>
            <a:pPr indent="0" marL="0">
              <a:buNone/>
            </a:pPr>
            <a:r>
              <a:rPr lang="en-US" sz="1400" b="1" dirty="0">
                <a:solidFill>
                  <a:srgbClr val="10192B"/>
                </a:solidFill>
                <a:latin typeface="Calibri" pitchFamily="34" charset="0"/>
                <a:ea typeface="Calibri" pitchFamily="34" charset="-122"/>
                <a:cs typeface="Calibri" pitchFamily="34" charset="-120"/>
              </a:rPr>
              <a:t>Well-located value-add fourplex</a:t>
            </a:r>
            <a:endParaRPr lang="en-US" sz="1400" dirty="0"/>
          </a:p>
        </p:txBody>
      </p:sp>
      <p:sp>
        <p:nvSpPr>
          <p:cNvPr id="23" name="Text 21"/>
          <p:cNvSpPr/>
          <p:nvPr/>
        </p:nvSpPr>
        <p:spPr>
          <a:xfrm>
            <a:off x="548640" y="4023360"/>
            <a:ext cx="5120640" cy="822960"/>
          </a:xfrm>
          <a:prstGeom prst="rect">
            <a:avLst/>
          </a:prstGeom>
          <a:noFill/>
          <a:ln/>
        </p:spPr>
        <p:txBody>
          <a:bodyPr wrap="square" lIns="0" tIns="0" rIns="0" bIns="0" rtlCol="0" anchor="ctr"/>
          <a:lstStyle/>
          <a:p>
            <a:pPr indent="0" marL="0">
              <a:lnSpc>
                <a:spcPct val="120000"/>
              </a:lnSpc>
              <a:buNone/>
            </a:pPr>
            <a:r>
              <a:rPr lang="en-US" sz="1200" dirty="0">
                <a:solidFill>
                  <a:srgbClr val="1C2A40"/>
                </a:solidFill>
                <a:latin typeface="Calibri" pitchFamily="34" charset="0"/>
                <a:ea typeface="Calibri" pitchFamily="34" charset="-122"/>
                <a:cs typeface="Calibri" pitchFamily="34" charset="-120"/>
              </a:rPr>
              <a:t>Built 1973 · 2,756 sq ft · 1.45-acre lot · Houston County, GA. Located near Robins AFB, schools, and town amenities.</a:t>
            </a:r>
            <a:endParaRPr lang="en-US" sz="1200" dirty="0"/>
          </a:p>
        </p:txBody>
      </p:sp>
      <p:sp>
        <p:nvSpPr>
          <p:cNvPr id="24" name="Text 22"/>
          <p:cNvSpPr/>
          <p:nvPr/>
        </p:nvSpPr>
        <p:spPr>
          <a:xfrm>
            <a:off x="5989320" y="3657600"/>
            <a:ext cx="5120640" cy="365760"/>
          </a:xfrm>
          <a:prstGeom prst="rect">
            <a:avLst/>
          </a:prstGeom>
          <a:noFill/>
          <a:ln/>
        </p:spPr>
        <p:txBody>
          <a:bodyPr wrap="square" lIns="0" tIns="0" rIns="0" bIns="0" rtlCol="0" anchor="ctr"/>
          <a:lstStyle/>
          <a:p>
            <a:pPr indent="0" marL="0">
              <a:buNone/>
            </a:pPr>
            <a:r>
              <a:rPr lang="en-US" sz="1400" b="1" dirty="0">
                <a:solidFill>
                  <a:srgbClr val="10192B"/>
                </a:solidFill>
                <a:latin typeface="Calibri" pitchFamily="34" charset="0"/>
                <a:ea typeface="Calibri" pitchFamily="34" charset="-122"/>
                <a:cs typeface="Calibri" pitchFamily="34" charset="-120"/>
              </a:rPr>
              <a:t>Below-market in-place rents</a:t>
            </a:r>
            <a:endParaRPr lang="en-US" sz="1400" dirty="0"/>
          </a:p>
        </p:txBody>
      </p:sp>
      <p:sp>
        <p:nvSpPr>
          <p:cNvPr id="25" name="Text 23"/>
          <p:cNvSpPr/>
          <p:nvPr/>
        </p:nvSpPr>
        <p:spPr>
          <a:xfrm>
            <a:off x="5989320" y="4023360"/>
            <a:ext cx="5120640" cy="822960"/>
          </a:xfrm>
          <a:prstGeom prst="rect">
            <a:avLst/>
          </a:prstGeom>
          <a:noFill/>
          <a:ln/>
        </p:spPr>
        <p:txBody>
          <a:bodyPr wrap="square" lIns="0" tIns="0" rIns="0" bIns="0" rtlCol="0" anchor="ctr"/>
          <a:lstStyle/>
          <a:p>
            <a:pPr indent="0" marL="0">
              <a:lnSpc>
                <a:spcPct val="120000"/>
              </a:lnSpc>
              <a:buNone/>
            </a:pPr>
            <a:r>
              <a:rPr lang="en-US" sz="1200" dirty="0">
                <a:solidFill>
                  <a:srgbClr val="1C2A40"/>
                </a:solidFill>
                <a:latin typeface="Calibri" pitchFamily="34" charset="0"/>
                <a:ea typeface="Calibri" pitchFamily="34" charset="-122"/>
                <a:cs typeface="Calibri" pitchFamily="34" charset="-120"/>
              </a:rPr>
              <a:t>Current rents run ~$760–$795/unit/mo. Renovation and repositioning are underwritten to close the gap to market.</a:t>
            </a:r>
            <a:endParaRPr lang="en-US" sz="1200" dirty="0"/>
          </a:p>
        </p:txBody>
      </p:sp>
      <p:sp>
        <p:nvSpPr>
          <p:cNvPr id="26" name="Text 24"/>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27" name="Text 25"/>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3"/>
        </a:solidFill>
      </p:bgPr>
    </p:bg>
    <p:spTree>
      <p:nvGrpSpPr>
        <p:cNvPr id="1" name=""/>
        <p:cNvGrpSpPr/>
        <p:nvPr/>
      </p:nvGrpSpPr>
      <p:grpSpPr>
        <a:xfrm>
          <a:off x="0" y="0"/>
          <a:ext cx="0" cy="0"/>
          <a:chOff x="0" y="0"/>
          <a:chExt cx="0" cy="0"/>
        </a:xfrm>
      </p:grpSpPr>
      <p:sp>
        <p:nvSpPr>
          <p:cNvPr id="2" name="Shape 0"/>
          <p:cNvSpPr/>
          <p:nvPr/>
        </p:nvSpPr>
        <p:spPr>
          <a:xfrm>
            <a:off x="548640" y="914400"/>
            <a:ext cx="4023360" cy="5120640"/>
          </a:xfrm>
          <a:prstGeom prst="rect">
            <a:avLst/>
          </a:prstGeom>
          <a:solidFill>
            <a:srgbClr val="10192B"/>
          </a:solidFill>
          <a:ln w="12700">
            <a:solidFill>
              <a:srgbClr val="B4863D"/>
            </a:solidFill>
            <a:prstDash val="solid"/>
          </a:ln>
        </p:spPr>
      </p:sp>
      <p:pic>
        <p:nvPicPr>
          <p:cNvPr id="3" name="Image 0" descr="preencoded.png">    </p:cNvPr>
          <p:cNvPicPr>
            <a:picLocks noChangeAspect="1"/>
          </p:cNvPicPr>
          <p:nvPr/>
        </p:nvPicPr>
        <p:blipFill>
          <a:blip r:embed="rId1"/>
          <a:stretch>
            <a:fillRect/>
          </a:stretch>
        </p:blipFill>
        <p:spPr>
          <a:xfrm>
            <a:off x="2240280" y="2788920"/>
            <a:ext cx="640080" cy="640080"/>
          </a:xfrm>
          <a:prstGeom prst="rect">
            <a:avLst/>
          </a:prstGeom>
        </p:spPr>
      </p:pic>
      <p:sp>
        <p:nvSpPr>
          <p:cNvPr id="4" name="Text 1"/>
          <p:cNvSpPr/>
          <p:nvPr/>
        </p:nvSpPr>
        <p:spPr>
          <a:xfrm>
            <a:off x="914400" y="3520440"/>
            <a:ext cx="3291840" cy="548640"/>
          </a:xfrm>
          <a:prstGeom prst="rect">
            <a:avLst/>
          </a:prstGeom>
          <a:noFill/>
          <a:ln/>
        </p:spPr>
        <p:txBody>
          <a:bodyPr wrap="square" lIns="0" tIns="0" rIns="0" bIns="0" rtlCol="0" anchor="ctr"/>
          <a:lstStyle/>
          <a:p>
            <a:pPr algn="ctr" indent="0" marL="0">
              <a:buNone/>
            </a:pPr>
            <a:r>
              <a:rPr lang="en-US" sz="1050" b="1" spc="100" kern="0" dirty="0">
                <a:solidFill>
                  <a:srgbClr val="D9BC84"/>
                </a:solidFill>
                <a:latin typeface="Calibri" pitchFamily="34" charset="0"/>
                <a:ea typeface="Calibri" pitchFamily="34" charset="-122"/>
                <a:cs typeface="Calibri" pitchFamily="34" charset="-120"/>
              </a:rPr>
              <a:t>Site Photo</a:t>
            </a:r>
            <a:endParaRPr lang="en-US" sz="1050" dirty="0"/>
          </a:p>
          <a:p>
            <a:pPr algn="ctr" indent="0" marL="0">
              <a:buNone/>
            </a:pPr>
            <a:r>
              <a:rPr lang="en-US" sz="1050" b="1" spc="100" kern="0" dirty="0">
                <a:solidFill>
                  <a:srgbClr val="D9BC84"/>
                </a:solidFill>
                <a:latin typeface="Calibri" pitchFamily="34" charset="0"/>
                <a:ea typeface="Calibri" pitchFamily="34" charset="-122"/>
                <a:cs typeface="Calibri" pitchFamily="34" charset="-120"/>
              </a:rPr>
              <a:t>731 N Davis Dr</a:t>
            </a:r>
            <a:endParaRPr lang="en-US" sz="1050" dirty="0"/>
          </a:p>
        </p:txBody>
      </p:sp>
      <p:sp>
        <p:nvSpPr>
          <p:cNvPr id="5" name="Text 2"/>
          <p:cNvSpPr/>
          <p:nvPr/>
        </p:nvSpPr>
        <p:spPr>
          <a:xfrm>
            <a:off x="914400" y="5577840"/>
            <a:ext cx="3291840" cy="274320"/>
          </a:xfrm>
          <a:prstGeom prst="rect">
            <a:avLst/>
          </a:prstGeom>
          <a:noFill/>
          <a:ln/>
        </p:spPr>
        <p:txBody>
          <a:bodyPr wrap="square" lIns="0" tIns="0" rIns="0" bIns="0" rtlCol="0" anchor="ctr"/>
          <a:lstStyle/>
          <a:p>
            <a:pPr algn="ctr" indent="0" marL="0">
              <a:buNone/>
            </a:pPr>
            <a:r>
              <a:rPr lang="en-US" sz="800" spc="100" kern="0" dirty="0">
                <a:solidFill>
                  <a:srgbClr val="D9BC84"/>
                </a:solidFill>
                <a:latin typeface="Calibri" pitchFamily="34" charset="0"/>
                <a:ea typeface="Calibri" pitchFamily="34" charset="-122"/>
                <a:cs typeface="Calibri" pitchFamily="34" charset="-120"/>
              </a:rPr>
              <a:t>PLACEHOLDER — ADD REAL PHOTOGRAPHY</a:t>
            </a:r>
            <a:endParaRPr lang="en-US" sz="800" dirty="0"/>
          </a:p>
        </p:txBody>
      </p:sp>
      <p:sp>
        <p:nvSpPr>
          <p:cNvPr id="6" name="Text 3"/>
          <p:cNvSpPr/>
          <p:nvPr/>
        </p:nvSpPr>
        <p:spPr>
          <a:xfrm>
            <a:off x="4937760" y="54864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PROPERTY OVERVIEW</a:t>
            </a:r>
            <a:endParaRPr lang="en-US" sz="1100" dirty="0"/>
          </a:p>
        </p:txBody>
      </p:sp>
      <p:sp>
        <p:nvSpPr>
          <p:cNvPr id="7" name="Text 4"/>
          <p:cNvSpPr/>
          <p:nvPr/>
        </p:nvSpPr>
        <p:spPr>
          <a:xfrm>
            <a:off x="4937760" y="868680"/>
            <a:ext cx="6675120" cy="822960"/>
          </a:xfrm>
          <a:prstGeom prst="rect">
            <a:avLst/>
          </a:prstGeom>
          <a:noFill/>
          <a:ln/>
        </p:spPr>
        <p:txBody>
          <a:bodyPr wrap="square" lIns="0" tIns="0" rIns="0" bIns="0" rtlCol="0" anchor="ctr"/>
          <a:lstStyle/>
          <a:p>
            <a:pPr indent="0" marL="0">
              <a:buNone/>
            </a:pPr>
            <a:r>
              <a:rPr lang="en-US" sz="2200" dirty="0">
                <a:solidFill>
                  <a:srgbClr val="10192B"/>
                </a:solidFill>
                <a:latin typeface="Cambria" pitchFamily="34" charset="0"/>
                <a:ea typeface="Cambria" pitchFamily="34" charset="-122"/>
                <a:cs typeface="Cambria" pitchFamily="34" charset="-120"/>
              </a:rPr>
              <a:t>By the numbers: a fourplex built for repositioning.</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937760" y="1828800"/>
          <a:ext cx="6675120" cy="914400"/>
        </p:xfrm>
        <a:graphic>
          <a:graphicData uri="http://schemas.openxmlformats.org/drawingml/2006/table">
            <a:tbl>
              <a:tblPr/>
              <a:tblGrid>
                <a:gridCol w="2194560"/>
                <a:gridCol w="4480560"/>
              </a:tblGrid>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Address</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731 N Davis Dr, Warner Robins, GA 31093</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County</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Houston County, GA</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Year Built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1973</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Units</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Avg. Unit Size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~600 sq ft</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Total Building Area</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2,756 sq ft</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Lot Size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1.45 acres</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Current Rent Range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$760 – $795 / unit / mo</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457200">
                <a:tc>
                  <a:txBody>
                    <a:bodyPr/>
                    <a:lstStyle/>
                    <a:p>
                      <a:pPr indent="0" marL="0">
                        <a:buNone/>
                      </a:pPr>
                      <a:r>
                        <a:rPr lang="en-US" sz="1050" b="1" dirty="0">
                          <a:solidFill>
                            <a:srgbClr val="616B80"/>
                          </a:solidFill>
                          <a:latin typeface="Calibri" pitchFamily="34" charset="0"/>
                          <a:ea typeface="Calibri" pitchFamily="34" charset="-122"/>
                          <a:cs typeface="Calibri" pitchFamily="34" charset="-120"/>
                        </a:rPr>
                        <a:t>Purchase Price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50" dirty="0">
                          <a:solidFill>
                            <a:srgbClr val="10192B"/>
                          </a:solidFill>
                          <a:latin typeface="Calibri" pitchFamily="34" charset="0"/>
                          <a:ea typeface="Calibri" pitchFamily="34" charset="-122"/>
                          <a:cs typeface="Calibri" pitchFamily="34" charset="-120"/>
                        </a:rPr>
                        <a:t>$1,000,000</a:t>
                      </a:r>
                      <a:endParaRPr lang="en-US" sz="11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bl>
          </a:graphicData>
        </a:graphic>
      </p:graphicFrame>
      <p:sp>
        <p:nvSpPr>
          <p:cNvPr id="9" name="Text 5"/>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10" name="Text 6"/>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B4863D"/>
                </a:solidFill>
                <a:latin typeface="Calibri" pitchFamily="34" charset="0"/>
                <a:ea typeface="Calibri" pitchFamily="34" charset="-122"/>
                <a:cs typeface="Calibri" pitchFamily="34" charset="-120"/>
              </a:rPr>
              <a:t>BUSINESS PLAN</a:t>
            </a:r>
            <a:endParaRPr lang="en-US" sz="1100" dirty="0"/>
          </a:p>
        </p:txBody>
      </p:sp>
      <p:sp>
        <p:nvSpPr>
          <p:cNvPr id="3" name="Text 1"/>
          <p:cNvSpPr/>
          <p:nvPr/>
        </p:nvSpPr>
        <p:spPr>
          <a:xfrm>
            <a:off x="548640" y="822960"/>
            <a:ext cx="10058400" cy="548640"/>
          </a:xfrm>
          <a:prstGeom prst="rect">
            <a:avLst/>
          </a:prstGeom>
          <a:noFill/>
          <a:ln/>
        </p:spPr>
        <p:txBody>
          <a:bodyPr wrap="square" lIns="0" tIns="0" rIns="0" bIns="0" rtlCol="0" anchor="ctr"/>
          <a:lstStyle/>
          <a:p>
            <a:pPr indent="0" marL="0">
              <a:buNone/>
            </a:pPr>
            <a:r>
              <a:rPr lang="en-US" sz="2600" dirty="0">
                <a:solidFill>
                  <a:srgbClr val="F4EFE3"/>
                </a:solidFill>
                <a:latin typeface="Cambria" pitchFamily="34" charset="0"/>
                <a:ea typeface="Cambria" pitchFamily="34" charset="-122"/>
                <a:cs typeface="Cambria" pitchFamily="34" charset="-120"/>
              </a:rPr>
              <a:t>From acquisition to exit: our three-phase plan.</a:t>
            </a:r>
            <a:endParaRPr lang="en-US" sz="2600" dirty="0"/>
          </a:p>
        </p:txBody>
      </p:sp>
      <p:sp>
        <p:nvSpPr>
          <p:cNvPr id="4" name="Shape 2"/>
          <p:cNvSpPr/>
          <p:nvPr/>
        </p:nvSpPr>
        <p:spPr>
          <a:xfrm>
            <a:off x="548640" y="1691640"/>
            <a:ext cx="3474720" cy="3108960"/>
          </a:xfrm>
          <a:prstGeom prst="rect">
            <a:avLst/>
          </a:prstGeom>
          <a:solidFill>
            <a:srgbClr val="1A2740"/>
          </a:solidFill>
          <a:ln w="12700">
            <a:solidFill>
              <a:srgbClr val="33415A"/>
            </a:solidFill>
            <a:prstDash val="solid"/>
          </a:ln>
        </p:spPr>
      </p:sp>
      <p:pic>
        <p:nvPicPr>
          <p:cNvPr id="5" name="Image 0" descr="preencoded.png">    </p:cNvPr>
          <p:cNvPicPr>
            <a:picLocks noChangeAspect="1"/>
          </p:cNvPicPr>
          <p:nvPr/>
        </p:nvPicPr>
        <p:blipFill>
          <a:blip r:embed="rId1"/>
          <a:stretch>
            <a:fillRect/>
          </a:stretch>
        </p:blipFill>
        <p:spPr>
          <a:xfrm>
            <a:off x="868680" y="1965960"/>
            <a:ext cx="457200" cy="457200"/>
          </a:xfrm>
          <a:prstGeom prst="rect">
            <a:avLst/>
          </a:prstGeom>
        </p:spPr>
      </p:pic>
      <p:sp>
        <p:nvSpPr>
          <p:cNvPr id="6" name="Text 3"/>
          <p:cNvSpPr/>
          <p:nvPr/>
        </p:nvSpPr>
        <p:spPr>
          <a:xfrm>
            <a:off x="822960" y="2560320"/>
            <a:ext cx="2926080" cy="274320"/>
          </a:xfrm>
          <a:prstGeom prst="rect">
            <a:avLst/>
          </a:prstGeom>
          <a:noFill/>
          <a:ln/>
        </p:spPr>
        <p:txBody>
          <a:bodyPr wrap="square" lIns="0" tIns="0" rIns="0" bIns="0" rtlCol="0" anchor="ctr"/>
          <a:lstStyle/>
          <a:p>
            <a:pPr indent="0" marL="0">
              <a:buNone/>
            </a:pPr>
            <a:r>
              <a:rPr lang="en-US" sz="950" b="1" spc="100" kern="0" dirty="0">
                <a:solidFill>
                  <a:srgbClr val="B4863D"/>
                </a:solidFill>
                <a:latin typeface="Calibri" pitchFamily="34" charset="0"/>
                <a:ea typeface="Calibri" pitchFamily="34" charset="-122"/>
                <a:cs typeface="Calibri" pitchFamily="34" charset="-120"/>
              </a:rPr>
              <a:t>PHASE 1 · 0–6 MONTHS</a:t>
            </a:r>
            <a:endParaRPr lang="en-US" sz="950" dirty="0"/>
          </a:p>
        </p:txBody>
      </p:sp>
      <p:sp>
        <p:nvSpPr>
          <p:cNvPr id="7" name="Text 4"/>
          <p:cNvSpPr/>
          <p:nvPr/>
        </p:nvSpPr>
        <p:spPr>
          <a:xfrm>
            <a:off x="822960" y="2852928"/>
            <a:ext cx="2926080" cy="502920"/>
          </a:xfrm>
          <a:prstGeom prst="rect">
            <a:avLst/>
          </a:prstGeom>
          <a:noFill/>
          <a:ln/>
        </p:spPr>
        <p:txBody>
          <a:bodyPr wrap="square" lIns="0" tIns="0" rIns="0" bIns="0" rtlCol="0" anchor="ctr"/>
          <a:lstStyle/>
          <a:p>
            <a:pPr indent="0" marL="0">
              <a:buNone/>
            </a:pPr>
            <a:r>
              <a:rPr lang="en-US" sz="1700" dirty="0">
                <a:solidFill>
                  <a:srgbClr val="F4EFE3"/>
                </a:solidFill>
                <a:latin typeface="Cambria" pitchFamily="34" charset="0"/>
                <a:ea typeface="Cambria" pitchFamily="34" charset="-122"/>
                <a:cs typeface="Cambria" pitchFamily="34" charset="-120"/>
              </a:rPr>
              <a:t>Renovate &amp; Stabilize</a:t>
            </a:r>
            <a:endParaRPr lang="en-US" sz="1700" dirty="0"/>
          </a:p>
        </p:txBody>
      </p:sp>
      <p:sp>
        <p:nvSpPr>
          <p:cNvPr id="8" name="Text 5"/>
          <p:cNvSpPr/>
          <p:nvPr/>
        </p:nvSpPr>
        <p:spPr>
          <a:xfrm>
            <a:off x="822960" y="3383280"/>
            <a:ext cx="2926080" cy="1280160"/>
          </a:xfrm>
          <a:prstGeom prst="rect">
            <a:avLst/>
          </a:prstGeom>
          <a:noFill/>
          <a:ln/>
        </p:spPr>
        <p:txBody>
          <a:bodyPr wrap="square" lIns="0" tIns="0" rIns="0" bIns="0" rtlCol="0" anchor="ctr"/>
          <a:lstStyle/>
          <a:p>
            <a:pPr indent="0" marL="0">
              <a:lnSpc>
                <a:spcPct val="125000"/>
              </a:lnSpc>
              <a:buNone/>
            </a:pPr>
            <a:r>
              <a:rPr lang="en-US" sz="1100" dirty="0">
                <a:solidFill>
                  <a:srgbClr val="A9B2C4"/>
                </a:solidFill>
                <a:latin typeface="Calibri" pitchFamily="34" charset="0"/>
                <a:ea typeface="Calibri" pitchFamily="34" charset="-122"/>
                <a:cs typeface="Calibri" pitchFamily="34" charset="-120"/>
              </a:rPr>
              <a:t>Unit-by-unit renovation, deferred maintenance addressed, curb appeal improved.</a:t>
            </a:r>
            <a:endParaRPr lang="en-US" sz="1100" dirty="0"/>
          </a:p>
        </p:txBody>
      </p:sp>
      <p:sp>
        <p:nvSpPr>
          <p:cNvPr id="9" name="Shape 6"/>
          <p:cNvSpPr/>
          <p:nvPr/>
        </p:nvSpPr>
        <p:spPr>
          <a:xfrm>
            <a:off x="4251960" y="1691640"/>
            <a:ext cx="3474720" cy="3108960"/>
          </a:xfrm>
          <a:prstGeom prst="rect">
            <a:avLst/>
          </a:prstGeom>
          <a:solidFill>
            <a:srgbClr val="1A2740"/>
          </a:solidFill>
          <a:ln w="12700">
            <a:solidFill>
              <a:srgbClr val="33415A"/>
            </a:solidFill>
            <a:prstDash val="solid"/>
          </a:ln>
        </p:spPr>
      </p:sp>
      <p:pic>
        <p:nvPicPr>
          <p:cNvPr id="10" name="Image 1" descr="preencoded.png">    </p:cNvPr>
          <p:cNvPicPr>
            <a:picLocks noChangeAspect="1"/>
          </p:cNvPicPr>
          <p:nvPr/>
        </p:nvPicPr>
        <p:blipFill>
          <a:blip r:embed="rId2"/>
          <a:stretch>
            <a:fillRect/>
          </a:stretch>
        </p:blipFill>
        <p:spPr>
          <a:xfrm>
            <a:off x="4572000" y="1965960"/>
            <a:ext cx="457200" cy="457200"/>
          </a:xfrm>
          <a:prstGeom prst="rect">
            <a:avLst/>
          </a:prstGeom>
        </p:spPr>
      </p:pic>
      <p:sp>
        <p:nvSpPr>
          <p:cNvPr id="11" name="Text 7"/>
          <p:cNvSpPr/>
          <p:nvPr/>
        </p:nvSpPr>
        <p:spPr>
          <a:xfrm>
            <a:off x="4526280" y="2560320"/>
            <a:ext cx="2926080" cy="274320"/>
          </a:xfrm>
          <a:prstGeom prst="rect">
            <a:avLst/>
          </a:prstGeom>
          <a:noFill/>
          <a:ln/>
        </p:spPr>
        <p:txBody>
          <a:bodyPr wrap="square" lIns="0" tIns="0" rIns="0" bIns="0" rtlCol="0" anchor="ctr"/>
          <a:lstStyle/>
          <a:p>
            <a:pPr indent="0" marL="0">
              <a:buNone/>
            </a:pPr>
            <a:r>
              <a:rPr lang="en-US" sz="950" b="1" spc="100" kern="0" dirty="0">
                <a:solidFill>
                  <a:srgbClr val="B4863D"/>
                </a:solidFill>
                <a:latin typeface="Calibri" pitchFamily="34" charset="0"/>
                <a:ea typeface="Calibri" pitchFamily="34" charset="-122"/>
                <a:cs typeface="Calibri" pitchFamily="34" charset="-120"/>
              </a:rPr>
              <a:t>PHASE 2 · 6–18 MONTHS</a:t>
            </a:r>
            <a:endParaRPr lang="en-US" sz="950" dirty="0"/>
          </a:p>
        </p:txBody>
      </p:sp>
      <p:sp>
        <p:nvSpPr>
          <p:cNvPr id="12" name="Text 8"/>
          <p:cNvSpPr/>
          <p:nvPr/>
        </p:nvSpPr>
        <p:spPr>
          <a:xfrm>
            <a:off x="4526280" y="2852928"/>
            <a:ext cx="2926080" cy="502920"/>
          </a:xfrm>
          <a:prstGeom prst="rect">
            <a:avLst/>
          </a:prstGeom>
          <a:noFill/>
          <a:ln/>
        </p:spPr>
        <p:txBody>
          <a:bodyPr wrap="square" lIns="0" tIns="0" rIns="0" bIns="0" rtlCol="0" anchor="ctr"/>
          <a:lstStyle/>
          <a:p>
            <a:pPr indent="0" marL="0">
              <a:buNone/>
            </a:pPr>
            <a:r>
              <a:rPr lang="en-US" sz="1700" dirty="0">
                <a:solidFill>
                  <a:srgbClr val="F4EFE3"/>
                </a:solidFill>
                <a:latin typeface="Cambria" pitchFamily="34" charset="0"/>
                <a:ea typeface="Cambria" pitchFamily="34" charset="-122"/>
                <a:cs typeface="Cambria" pitchFamily="34" charset="-120"/>
              </a:rPr>
              <a:t>Reposition to Market Rent</a:t>
            </a:r>
            <a:endParaRPr lang="en-US" sz="1700" dirty="0"/>
          </a:p>
        </p:txBody>
      </p:sp>
      <p:sp>
        <p:nvSpPr>
          <p:cNvPr id="13" name="Text 9"/>
          <p:cNvSpPr/>
          <p:nvPr/>
        </p:nvSpPr>
        <p:spPr>
          <a:xfrm>
            <a:off x="4526280" y="3383280"/>
            <a:ext cx="2926080" cy="1280160"/>
          </a:xfrm>
          <a:prstGeom prst="rect">
            <a:avLst/>
          </a:prstGeom>
          <a:noFill/>
          <a:ln/>
        </p:spPr>
        <p:txBody>
          <a:bodyPr wrap="square" lIns="0" tIns="0" rIns="0" bIns="0" rtlCol="0" anchor="ctr"/>
          <a:lstStyle/>
          <a:p>
            <a:pPr indent="0" marL="0">
              <a:lnSpc>
                <a:spcPct val="125000"/>
              </a:lnSpc>
              <a:buNone/>
            </a:pPr>
            <a:r>
              <a:rPr lang="en-US" sz="1100" dirty="0">
                <a:solidFill>
                  <a:srgbClr val="A9B2C4"/>
                </a:solidFill>
                <a:latin typeface="Calibri" pitchFamily="34" charset="0"/>
                <a:ea typeface="Calibri" pitchFamily="34" charset="-122"/>
                <a:cs typeface="Calibri" pitchFamily="34" charset="-120"/>
              </a:rPr>
              <a:t>Re-lease renovated units at market rates, targeting base-adjacent renter demand.</a:t>
            </a:r>
            <a:endParaRPr lang="en-US" sz="1100" dirty="0"/>
          </a:p>
        </p:txBody>
      </p:sp>
      <p:sp>
        <p:nvSpPr>
          <p:cNvPr id="14" name="Shape 10"/>
          <p:cNvSpPr/>
          <p:nvPr/>
        </p:nvSpPr>
        <p:spPr>
          <a:xfrm>
            <a:off x="7955280" y="1691640"/>
            <a:ext cx="3474720" cy="3108960"/>
          </a:xfrm>
          <a:prstGeom prst="rect">
            <a:avLst/>
          </a:prstGeom>
          <a:solidFill>
            <a:srgbClr val="1A2740"/>
          </a:solidFill>
          <a:ln w="12700">
            <a:solidFill>
              <a:srgbClr val="33415A"/>
            </a:solidFill>
            <a:prstDash val="solid"/>
          </a:ln>
        </p:spPr>
      </p:sp>
      <p:pic>
        <p:nvPicPr>
          <p:cNvPr id="15" name="Image 2" descr="preencoded.png">    </p:cNvPr>
          <p:cNvPicPr>
            <a:picLocks noChangeAspect="1"/>
          </p:cNvPicPr>
          <p:nvPr/>
        </p:nvPicPr>
        <p:blipFill>
          <a:blip r:embed="rId3"/>
          <a:stretch>
            <a:fillRect/>
          </a:stretch>
        </p:blipFill>
        <p:spPr>
          <a:xfrm>
            <a:off x="8275320" y="1965960"/>
            <a:ext cx="457200" cy="457200"/>
          </a:xfrm>
          <a:prstGeom prst="rect">
            <a:avLst/>
          </a:prstGeom>
        </p:spPr>
      </p:pic>
      <p:sp>
        <p:nvSpPr>
          <p:cNvPr id="16" name="Text 11"/>
          <p:cNvSpPr/>
          <p:nvPr/>
        </p:nvSpPr>
        <p:spPr>
          <a:xfrm>
            <a:off x="8229600" y="2560320"/>
            <a:ext cx="2926080" cy="274320"/>
          </a:xfrm>
          <a:prstGeom prst="rect">
            <a:avLst/>
          </a:prstGeom>
          <a:noFill/>
          <a:ln/>
        </p:spPr>
        <p:txBody>
          <a:bodyPr wrap="square" lIns="0" tIns="0" rIns="0" bIns="0" rtlCol="0" anchor="ctr"/>
          <a:lstStyle/>
          <a:p>
            <a:pPr indent="0" marL="0">
              <a:buNone/>
            </a:pPr>
            <a:r>
              <a:rPr lang="en-US" sz="950" b="1" spc="100" kern="0" dirty="0">
                <a:solidFill>
                  <a:srgbClr val="B4863D"/>
                </a:solidFill>
                <a:latin typeface="Calibri" pitchFamily="34" charset="0"/>
                <a:ea typeface="Calibri" pitchFamily="34" charset="-122"/>
                <a:cs typeface="Calibri" pitchFamily="34" charset="-120"/>
              </a:rPr>
              <a:t>PHASE 3 · 18–36 MONTHS</a:t>
            </a:r>
            <a:endParaRPr lang="en-US" sz="950" dirty="0"/>
          </a:p>
        </p:txBody>
      </p:sp>
      <p:sp>
        <p:nvSpPr>
          <p:cNvPr id="17" name="Text 12"/>
          <p:cNvSpPr/>
          <p:nvPr/>
        </p:nvSpPr>
        <p:spPr>
          <a:xfrm>
            <a:off x="8229600" y="2852928"/>
            <a:ext cx="2926080" cy="502920"/>
          </a:xfrm>
          <a:prstGeom prst="rect">
            <a:avLst/>
          </a:prstGeom>
          <a:noFill/>
          <a:ln/>
        </p:spPr>
        <p:txBody>
          <a:bodyPr wrap="square" lIns="0" tIns="0" rIns="0" bIns="0" rtlCol="0" anchor="ctr"/>
          <a:lstStyle/>
          <a:p>
            <a:pPr indent="0" marL="0">
              <a:buNone/>
            </a:pPr>
            <a:r>
              <a:rPr lang="en-US" sz="1700" dirty="0">
                <a:solidFill>
                  <a:srgbClr val="F4EFE3"/>
                </a:solidFill>
                <a:latin typeface="Cambria" pitchFamily="34" charset="0"/>
                <a:ea typeface="Cambria" pitchFamily="34" charset="-122"/>
                <a:cs typeface="Cambria" pitchFamily="34" charset="-120"/>
              </a:rPr>
              <a:t>Stabilize &amp; Exit</a:t>
            </a:r>
            <a:endParaRPr lang="en-US" sz="1700" dirty="0"/>
          </a:p>
        </p:txBody>
      </p:sp>
      <p:sp>
        <p:nvSpPr>
          <p:cNvPr id="18" name="Text 13"/>
          <p:cNvSpPr/>
          <p:nvPr/>
        </p:nvSpPr>
        <p:spPr>
          <a:xfrm>
            <a:off x="8229600" y="3383280"/>
            <a:ext cx="2926080" cy="1280160"/>
          </a:xfrm>
          <a:prstGeom prst="rect">
            <a:avLst/>
          </a:prstGeom>
          <a:noFill/>
          <a:ln/>
        </p:spPr>
        <p:txBody>
          <a:bodyPr wrap="square" lIns="0" tIns="0" rIns="0" bIns="0" rtlCol="0" anchor="ctr"/>
          <a:lstStyle/>
          <a:p>
            <a:pPr indent="0" marL="0">
              <a:lnSpc>
                <a:spcPct val="125000"/>
              </a:lnSpc>
              <a:buNone/>
            </a:pPr>
            <a:r>
              <a:rPr lang="en-US" sz="1100" dirty="0">
                <a:solidFill>
                  <a:srgbClr val="A9B2C4"/>
                </a:solidFill>
                <a:latin typeface="Calibri" pitchFamily="34" charset="0"/>
                <a:ea typeface="Calibri" pitchFamily="34" charset="-122"/>
                <a:cs typeface="Calibri" pitchFamily="34" charset="-120"/>
              </a:rPr>
              <a:t>Hold for stabilized cash flow, then sell or refinance to return investor capital.</a:t>
            </a:r>
            <a:endParaRPr lang="en-US" sz="1100" dirty="0"/>
          </a:p>
        </p:txBody>
      </p:sp>
      <p:sp>
        <p:nvSpPr>
          <p:cNvPr id="19" name="Text 14"/>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20" name="Text 15"/>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COMPARABLE SALES</a:t>
            </a:r>
            <a:endParaRPr lang="en-US" sz="1100" dirty="0"/>
          </a:p>
        </p:txBody>
      </p:sp>
      <p:sp>
        <p:nvSpPr>
          <p:cNvPr id="3" name="Text 1"/>
          <p:cNvSpPr/>
          <p:nvPr/>
        </p:nvSpPr>
        <p:spPr>
          <a:xfrm>
            <a:off x="548640" y="822960"/>
            <a:ext cx="10515600" cy="548640"/>
          </a:xfrm>
          <a:prstGeom prst="rect">
            <a:avLst/>
          </a:prstGeom>
          <a:noFill/>
          <a:ln/>
        </p:spPr>
        <p:txBody>
          <a:bodyPr wrap="square" lIns="0" tIns="0" rIns="0" bIns="0" rtlCol="0" anchor="ctr"/>
          <a:lstStyle/>
          <a:p>
            <a:pPr indent="0" marL="0">
              <a:buNone/>
            </a:pPr>
            <a:r>
              <a:rPr lang="en-US" sz="2600" dirty="0">
                <a:solidFill>
                  <a:srgbClr val="10192B"/>
                </a:solidFill>
                <a:latin typeface="Cambria" pitchFamily="34" charset="0"/>
                <a:ea typeface="Cambria" pitchFamily="34" charset="-122"/>
                <a:cs typeface="Cambria" pitchFamily="34" charset="-120"/>
              </a:rPr>
              <a:t>Small multifamily comps — </a:t>
            </a:r>
            <a:pPr indent="0" marL="0">
              <a:buNone/>
            </a:pPr>
            <a:r>
              <a:rPr lang="en-US" sz="2600" i="1" dirty="0">
                <a:solidFill>
                  <a:srgbClr val="8A6529"/>
                </a:solidFill>
                <a:latin typeface="Cambria" pitchFamily="34" charset="0"/>
                <a:ea typeface="Cambria" pitchFamily="34" charset="-122"/>
                <a:cs typeface="Cambria" pitchFamily="34" charset="-120"/>
              </a:rPr>
              <a:t>pending final verification</a:t>
            </a:r>
            <a:pPr indent="0" marL="0">
              <a:buNone/>
            </a:pPr>
            <a:r>
              <a:rPr lang="en-US" sz="2600" dirty="0">
                <a:solidFill>
                  <a:srgbClr val="10192B"/>
                </a:solidFill>
                <a:latin typeface="Cambria" pitchFamily="34" charset="0"/>
                <a:ea typeface="Cambria" pitchFamily="34" charset="-122"/>
                <a:cs typeface="Cambria" pitchFamily="34" charset="-120"/>
              </a:rPr>
              <a:t>.</a:t>
            </a:r>
            <a:endParaRPr lang="en-US" sz="2600" dirty="0"/>
          </a:p>
        </p:txBody>
      </p:sp>
      <p:sp>
        <p:nvSpPr>
          <p:cNvPr id="4" name="Text 2"/>
          <p:cNvSpPr/>
          <p:nvPr/>
        </p:nvSpPr>
        <p:spPr>
          <a:xfrm>
            <a:off x="548640" y="1417320"/>
            <a:ext cx="10789920" cy="685800"/>
          </a:xfrm>
          <a:prstGeom prst="rect">
            <a:avLst/>
          </a:prstGeom>
          <a:noFill/>
          <a:ln/>
        </p:spPr>
        <p:txBody>
          <a:bodyPr wrap="square" lIns="0" tIns="0" rIns="0" bIns="0" rtlCol="0" anchor="ctr"/>
          <a:lstStyle/>
          <a:p>
            <a:pPr indent="0" marL="0">
              <a:lnSpc>
                <a:spcPct val="120000"/>
              </a:lnSpc>
              <a:buNone/>
            </a:pPr>
            <a:r>
              <a:rPr lang="en-US" sz="1100" dirty="0">
                <a:solidFill>
                  <a:srgbClr val="1C2A40"/>
                </a:solidFill>
                <a:latin typeface="Calibri" pitchFamily="34" charset="0"/>
                <a:ea typeface="Calibri" pitchFamily="34" charset="-122"/>
                <a:cs typeface="Calibri" pitchFamily="34" charset="-120"/>
              </a:rPr>
              <a:t>Publicly available search could not surface verified closed sales for sub-20-unit properties in this submarket — that data sits behind paid CRE platforms (CoStar/Crexi) or the local MLS. The rows below are a template for your broker or MLS pull; one active listing is shown for general market context only.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3200400"/>
                <a:gridCol w="1005840"/>
                <a:gridCol w="1463040"/>
                <a:gridCol w="1737360"/>
                <a:gridCol w="1645920"/>
                <a:gridCol w="2011680"/>
              </a:tblGrid>
              <a:tr h="384048">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Address</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Units</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Sale Date</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Sale Price</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Price / Unit</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000" b="1" dirty="0">
                          <a:solidFill>
                            <a:srgbClr val="10192B"/>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r>
              <a:tr h="384048">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[Comp 1 Address]</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Pending broker data</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384048">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[Comp 2 Address]</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Pending broker data</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384048">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[Comp 3 Address]</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i="1" dirty="0">
                          <a:solidFill>
                            <a:srgbClr val="616B80"/>
                          </a:solidFill>
                          <a:latin typeface="Calibri" pitchFamily="34" charset="0"/>
                          <a:ea typeface="Calibri" pitchFamily="34" charset="-122"/>
                          <a:cs typeface="Calibri" pitchFamily="34" charset="-120"/>
                        </a:rPr>
                        <a:t>Pending broker data</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384048">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Warner Robins, GA 31088</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96</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$6,500,000</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~$67,700</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050" dirty="0">
                          <a:solidFill>
                            <a:srgbClr val="10192B"/>
                          </a:solidFill>
                          <a:latin typeface="Calibri" pitchFamily="34" charset="0"/>
                          <a:ea typeface="Calibri" pitchFamily="34" charset="-122"/>
                          <a:cs typeface="Calibri" pitchFamily="34" charset="-120"/>
                        </a:rPr>
                        <a:t>Active listing (context only)</a:t>
                      </a:r>
                      <a:endParaRPr lang="en-US" sz="105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bl>
          </a:graphicData>
        </a:graphic>
      </p:graphicFrame>
      <p:sp>
        <p:nvSpPr>
          <p:cNvPr id="6" name="Text 3"/>
          <p:cNvSpPr/>
          <p:nvPr/>
        </p:nvSpPr>
        <p:spPr>
          <a:xfrm>
            <a:off x="548640" y="4480560"/>
            <a:ext cx="11064240" cy="548640"/>
          </a:xfrm>
          <a:prstGeom prst="rect">
            <a:avLst/>
          </a:prstGeom>
          <a:noFill/>
          <a:ln/>
        </p:spPr>
        <p:txBody>
          <a:bodyPr wrap="square" lIns="0" tIns="0" rIns="0" bIns="0" rtlCol="0" anchor="ctr"/>
          <a:lstStyle/>
          <a:p>
            <a:pPr indent="0" marL="0">
              <a:lnSpc>
                <a:spcPct val="120000"/>
              </a:lnSpc>
              <a:buNone/>
            </a:pPr>
            <a:r>
              <a:rPr lang="en-US" sz="1000" i="1" dirty="0">
                <a:solidFill>
                  <a:srgbClr val="616B80"/>
                </a:solidFill>
                <a:latin typeface="Calibri" pitchFamily="34" charset="0"/>
                <a:ea typeface="Calibri" pitchFamily="34" charset="-122"/>
                <a:cs typeface="Calibri" pitchFamily="34" charset="-120"/>
              </a:rPr>
              <a:t>731 N Davis Dr underwrites at $250,000/unit — above the 96-unit reference asset's per-unit ask, reflecting the smaller asset class and renovated-unit repositioning premium. Confirm against true closed comps before finalizing underwriting.</a:t>
            </a:r>
            <a:endParaRPr lang="en-US" sz="1000" dirty="0"/>
          </a:p>
        </p:txBody>
      </p:sp>
      <p:sp>
        <p:nvSpPr>
          <p:cNvPr id="7" name="Text 4"/>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8" name="Text 5"/>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B4863D"/>
                </a:solidFill>
                <a:latin typeface="Calibri" pitchFamily="34" charset="0"/>
                <a:ea typeface="Calibri" pitchFamily="34" charset="-122"/>
                <a:cs typeface="Calibri" pitchFamily="34" charset="-120"/>
              </a:rPr>
              <a:t>TARGET INVESTOR RETURNS</a:t>
            </a:r>
            <a:endParaRPr lang="en-US" sz="1100" dirty="0"/>
          </a:p>
        </p:txBody>
      </p:sp>
      <p:sp>
        <p:nvSpPr>
          <p:cNvPr id="3" name="Text 1"/>
          <p:cNvSpPr/>
          <p:nvPr/>
        </p:nvSpPr>
        <p:spPr>
          <a:xfrm>
            <a:off x="548640" y="822960"/>
            <a:ext cx="9601200" cy="640080"/>
          </a:xfrm>
          <a:prstGeom prst="rect">
            <a:avLst/>
          </a:prstGeom>
          <a:noFill/>
          <a:ln/>
        </p:spPr>
        <p:txBody>
          <a:bodyPr wrap="square" lIns="0" tIns="0" rIns="0" bIns="0" rtlCol="0" anchor="ctr"/>
          <a:lstStyle/>
          <a:p>
            <a:pPr indent="0" marL="0">
              <a:buNone/>
            </a:pPr>
            <a:r>
              <a:rPr lang="en-US" sz="2600" dirty="0">
                <a:solidFill>
                  <a:srgbClr val="F4EFE3"/>
                </a:solidFill>
                <a:latin typeface="Cambria" pitchFamily="34" charset="0"/>
                <a:ea typeface="Cambria" pitchFamily="34" charset="-122"/>
                <a:cs typeface="Cambria" pitchFamily="34" charset="-120"/>
              </a:rPr>
              <a:t>What this repositioning is underwritten to deliver.</a:t>
            </a:r>
            <a:endParaRPr lang="en-US" sz="2600" dirty="0"/>
          </a:p>
        </p:txBody>
      </p:sp>
      <p:sp>
        <p:nvSpPr>
          <p:cNvPr id="4" name="Shape 2"/>
          <p:cNvSpPr/>
          <p:nvPr/>
        </p:nvSpPr>
        <p:spPr>
          <a:xfrm>
            <a:off x="548640" y="1783080"/>
            <a:ext cx="3931920" cy="2468880"/>
          </a:xfrm>
          <a:prstGeom prst="rect">
            <a:avLst/>
          </a:prstGeom>
          <a:solidFill>
            <a:srgbClr val="1A2740"/>
          </a:solidFill>
          <a:ln w="12700">
            <a:solidFill>
              <a:srgbClr val="33415A"/>
            </a:solidFill>
            <a:prstDash val="solid"/>
          </a:ln>
        </p:spPr>
      </p:sp>
      <p:sp>
        <p:nvSpPr>
          <p:cNvPr id="5" name="Text 3"/>
          <p:cNvSpPr/>
          <p:nvPr/>
        </p:nvSpPr>
        <p:spPr>
          <a:xfrm>
            <a:off x="868680" y="2011680"/>
            <a:ext cx="3291840" cy="365760"/>
          </a:xfrm>
          <a:prstGeom prst="rect">
            <a:avLst/>
          </a:prstGeom>
          <a:noFill/>
          <a:ln/>
        </p:spPr>
        <p:txBody>
          <a:bodyPr wrap="square" lIns="0" tIns="0" rIns="0" bIns="0" rtlCol="0" anchor="ctr"/>
          <a:lstStyle/>
          <a:p>
            <a:pPr indent="0" marL="0">
              <a:buNone/>
            </a:pPr>
            <a:r>
              <a:rPr lang="en-US" sz="1500" i="1" dirty="0">
                <a:solidFill>
                  <a:srgbClr val="F4EFE3"/>
                </a:solidFill>
                <a:latin typeface="Cambria" pitchFamily="34" charset="0"/>
                <a:ea typeface="Cambria" pitchFamily="34" charset="-122"/>
                <a:cs typeface="Cambria" pitchFamily="34" charset="-120"/>
              </a:rPr>
              <a:t>Cash-on-Cash Return</a:t>
            </a:r>
            <a:endParaRPr lang="en-US" sz="1500" dirty="0"/>
          </a:p>
        </p:txBody>
      </p:sp>
      <p:sp>
        <p:nvSpPr>
          <p:cNvPr id="6" name="Text 4"/>
          <p:cNvSpPr/>
          <p:nvPr/>
        </p:nvSpPr>
        <p:spPr>
          <a:xfrm>
            <a:off x="822960" y="2423160"/>
            <a:ext cx="3383280" cy="822960"/>
          </a:xfrm>
          <a:prstGeom prst="rect">
            <a:avLst/>
          </a:prstGeom>
          <a:noFill/>
          <a:ln/>
        </p:spPr>
        <p:txBody>
          <a:bodyPr wrap="square" lIns="0" tIns="0" rIns="0" bIns="0" rtlCol="0" anchor="ctr"/>
          <a:lstStyle/>
          <a:p>
            <a:pPr indent="0" marL="0">
              <a:buNone/>
            </a:pPr>
            <a:r>
              <a:rPr lang="en-US" sz="4400" dirty="0">
                <a:solidFill>
                  <a:srgbClr val="B4863D"/>
                </a:solidFill>
                <a:latin typeface="Cambria" pitchFamily="34" charset="0"/>
                <a:ea typeface="Cambria" pitchFamily="34" charset="-122"/>
                <a:cs typeface="Cambria" pitchFamily="34" charset="-120"/>
              </a:rPr>
              <a:t>8.5</a:t>
            </a:r>
            <a:pPr indent="0" marL="0">
              <a:buNone/>
            </a:pPr>
            <a:r>
              <a:rPr lang="en-US" sz="2000" dirty="0">
                <a:solidFill>
                  <a:srgbClr val="B4863D"/>
                </a:solidFill>
                <a:latin typeface="Cambria" pitchFamily="34" charset="0"/>
                <a:ea typeface="Cambria" pitchFamily="34" charset="-122"/>
                <a:cs typeface="Cambria" pitchFamily="34" charset="-120"/>
              </a:rPr>
              <a:t>%</a:t>
            </a:r>
            <a:endParaRPr lang="en-US" sz="4400" dirty="0"/>
          </a:p>
        </p:txBody>
      </p:sp>
      <p:sp>
        <p:nvSpPr>
          <p:cNvPr id="7" name="Text 5"/>
          <p:cNvSpPr/>
          <p:nvPr/>
        </p:nvSpPr>
        <p:spPr>
          <a:xfrm>
            <a:off x="868680" y="3337560"/>
            <a:ext cx="3291840" cy="77724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Target annual cash distribution once units are repositioned and stabilized.</a:t>
            </a:r>
            <a:endParaRPr lang="en-US" sz="1100" dirty="0"/>
          </a:p>
        </p:txBody>
      </p:sp>
      <p:sp>
        <p:nvSpPr>
          <p:cNvPr id="8" name="Shape 6"/>
          <p:cNvSpPr/>
          <p:nvPr/>
        </p:nvSpPr>
        <p:spPr>
          <a:xfrm>
            <a:off x="4709160" y="1783080"/>
            <a:ext cx="3931920" cy="2468880"/>
          </a:xfrm>
          <a:prstGeom prst="rect">
            <a:avLst/>
          </a:prstGeom>
          <a:solidFill>
            <a:srgbClr val="1A2740"/>
          </a:solidFill>
          <a:ln w="12700">
            <a:solidFill>
              <a:srgbClr val="33415A"/>
            </a:solidFill>
            <a:prstDash val="solid"/>
          </a:ln>
        </p:spPr>
      </p:sp>
      <p:sp>
        <p:nvSpPr>
          <p:cNvPr id="9" name="Text 7"/>
          <p:cNvSpPr/>
          <p:nvPr/>
        </p:nvSpPr>
        <p:spPr>
          <a:xfrm>
            <a:off x="5029200" y="2011680"/>
            <a:ext cx="3291840" cy="365760"/>
          </a:xfrm>
          <a:prstGeom prst="rect">
            <a:avLst/>
          </a:prstGeom>
          <a:noFill/>
          <a:ln/>
        </p:spPr>
        <p:txBody>
          <a:bodyPr wrap="square" lIns="0" tIns="0" rIns="0" bIns="0" rtlCol="0" anchor="ctr"/>
          <a:lstStyle/>
          <a:p>
            <a:pPr indent="0" marL="0">
              <a:buNone/>
            </a:pPr>
            <a:r>
              <a:rPr lang="en-US" sz="1500" i="1" dirty="0">
                <a:solidFill>
                  <a:srgbClr val="F4EFE3"/>
                </a:solidFill>
                <a:latin typeface="Cambria" pitchFamily="34" charset="0"/>
                <a:ea typeface="Cambria" pitchFamily="34" charset="-122"/>
                <a:cs typeface="Cambria" pitchFamily="34" charset="-120"/>
              </a:rPr>
              <a:t>Tax-Deferred IRR</a:t>
            </a:r>
            <a:endParaRPr lang="en-US" sz="1500" dirty="0"/>
          </a:p>
        </p:txBody>
      </p:sp>
      <p:sp>
        <p:nvSpPr>
          <p:cNvPr id="10" name="Text 8"/>
          <p:cNvSpPr/>
          <p:nvPr/>
        </p:nvSpPr>
        <p:spPr>
          <a:xfrm>
            <a:off x="4983480" y="2423160"/>
            <a:ext cx="3383280" cy="822960"/>
          </a:xfrm>
          <a:prstGeom prst="rect">
            <a:avLst/>
          </a:prstGeom>
          <a:noFill/>
          <a:ln/>
        </p:spPr>
        <p:txBody>
          <a:bodyPr wrap="square" lIns="0" tIns="0" rIns="0" bIns="0" rtlCol="0" anchor="ctr"/>
          <a:lstStyle/>
          <a:p>
            <a:pPr indent="0" marL="0">
              <a:buNone/>
            </a:pPr>
            <a:r>
              <a:rPr lang="en-US" sz="4400" dirty="0">
                <a:solidFill>
                  <a:srgbClr val="B4863D"/>
                </a:solidFill>
                <a:latin typeface="Cambria" pitchFamily="34" charset="0"/>
                <a:ea typeface="Cambria" pitchFamily="34" charset="-122"/>
                <a:cs typeface="Cambria" pitchFamily="34" charset="-120"/>
              </a:rPr>
              <a:t>Up to 15</a:t>
            </a:r>
            <a:pPr indent="0" marL="0">
              <a:buNone/>
            </a:pPr>
            <a:r>
              <a:rPr lang="en-US" sz="2000" dirty="0">
                <a:solidFill>
                  <a:srgbClr val="B4863D"/>
                </a:solidFill>
                <a:latin typeface="Cambria" pitchFamily="34" charset="0"/>
                <a:ea typeface="Cambria" pitchFamily="34" charset="-122"/>
                <a:cs typeface="Cambria" pitchFamily="34" charset="-120"/>
              </a:rPr>
              <a:t>%</a:t>
            </a:r>
            <a:endParaRPr lang="en-US" sz="4400" dirty="0"/>
          </a:p>
        </p:txBody>
      </p:sp>
      <p:sp>
        <p:nvSpPr>
          <p:cNvPr id="11" name="Text 9"/>
          <p:cNvSpPr/>
          <p:nvPr/>
        </p:nvSpPr>
        <p:spPr>
          <a:xfrm>
            <a:off x="5029200" y="3337560"/>
            <a:ext cx="3291840" cy="77724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Target internal rate of return over the 3-year hold, inclusive of depreciation-driven tax deferral.</a:t>
            </a:r>
            <a:endParaRPr lang="en-US" sz="1100" dirty="0"/>
          </a:p>
        </p:txBody>
      </p:sp>
      <p:sp>
        <p:nvSpPr>
          <p:cNvPr id="12" name="Text 10"/>
          <p:cNvSpPr/>
          <p:nvPr/>
        </p:nvSpPr>
        <p:spPr>
          <a:xfrm>
            <a:off x="548640" y="4617720"/>
            <a:ext cx="9144000" cy="548640"/>
          </a:xfrm>
          <a:prstGeom prst="rect">
            <a:avLst/>
          </a:prstGeom>
          <a:noFill/>
          <a:ln/>
        </p:spPr>
        <p:txBody>
          <a:bodyPr wrap="square" lIns="0" tIns="0" rIns="0" bIns="0" rtlCol="0" anchor="ctr"/>
          <a:lstStyle/>
          <a:p>
            <a:pPr indent="0" marL="0">
              <a:lnSpc>
                <a:spcPct val="120000"/>
              </a:lnSpc>
              <a:buNone/>
            </a:pPr>
            <a:r>
              <a:rPr lang="en-US" sz="1000" dirty="0">
                <a:solidFill>
                  <a:srgbClr val="8592AA"/>
                </a:solidFill>
                <a:latin typeface="Calibri" pitchFamily="34" charset="0"/>
                <a:ea typeface="Calibri" pitchFamily="34" charset="-122"/>
                <a:cs typeface="Calibri" pitchFamily="34" charset="-120"/>
              </a:rPr>
              <a:t>Forward-looking target, not a guarantee. Actual returns depend on renovation cost, lease-up pace, market rent growth, and exit execution. See disclosure, slide 2.</a:t>
            </a:r>
            <a:endParaRPr lang="en-US" sz="1000" dirty="0"/>
          </a:p>
        </p:txBody>
      </p:sp>
      <p:sp>
        <p:nvSpPr>
          <p:cNvPr id="13" name="Text 11"/>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14" name="Text 12"/>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EXIT STRATEGY</a:t>
            </a:r>
            <a:endParaRPr lang="en-US" sz="1100" dirty="0"/>
          </a:p>
        </p:txBody>
      </p:sp>
      <p:sp>
        <p:nvSpPr>
          <p:cNvPr id="3" name="Text 1"/>
          <p:cNvSpPr/>
          <p:nvPr/>
        </p:nvSpPr>
        <p:spPr>
          <a:xfrm>
            <a:off x="548640" y="822960"/>
            <a:ext cx="9144000" cy="548640"/>
          </a:xfrm>
          <a:prstGeom prst="rect">
            <a:avLst/>
          </a:prstGeom>
          <a:noFill/>
          <a:ln/>
        </p:spPr>
        <p:txBody>
          <a:bodyPr wrap="square" lIns="0" tIns="0" rIns="0" bIns="0" rtlCol="0" anchor="ctr"/>
          <a:lstStyle/>
          <a:p>
            <a:pPr indent="0" marL="0">
              <a:buNone/>
            </a:pPr>
            <a:r>
              <a:rPr lang="en-US" sz="2800" dirty="0">
                <a:solidFill>
                  <a:srgbClr val="10192B"/>
                </a:solidFill>
                <a:latin typeface="Cambria" pitchFamily="34" charset="0"/>
                <a:ea typeface="Cambria" pitchFamily="34" charset="-122"/>
                <a:cs typeface="Cambria" pitchFamily="34" charset="-120"/>
              </a:rPr>
              <a:t>Two paths to return investor capital.</a:t>
            </a:r>
            <a:endParaRPr lang="en-US" sz="2800" dirty="0"/>
          </a:p>
        </p:txBody>
      </p:sp>
      <p:sp>
        <p:nvSpPr>
          <p:cNvPr id="4" name="Shape 2"/>
          <p:cNvSpPr/>
          <p:nvPr/>
        </p:nvSpPr>
        <p:spPr>
          <a:xfrm>
            <a:off x="548640" y="1691640"/>
            <a:ext cx="5120640" cy="3017520"/>
          </a:xfrm>
          <a:prstGeom prst="rect">
            <a:avLst/>
          </a:prstGeom>
          <a:solidFill>
            <a:srgbClr val="FBF8F1"/>
          </a:solidFill>
          <a:ln w="12700">
            <a:solidFill>
              <a:srgbClr val="D8CFB6"/>
            </a:solidFill>
            <a:prstDash val="solid"/>
          </a:ln>
        </p:spPr>
      </p:sp>
      <p:pic>
        <p:nvPicPr>
          <p:cNvPr id="5" name="Image 0" descr="preencoded.png">    </p:cNvPr>
          <p:cNvPicPr>
            <a:picLocks noChangeAspect="1"/>
          </p:cNvPicPr>
          <p:nvPr/>
        </p:nvPicPr>
        <p:blipFill>
          <a:blip r:embed="rId1"/>
          <a:stretch>
            <a:fillRect/>
          </a:stretch>
        </p:blipFill>
        <p:spPr>
          <a:xfrm>
            <a:off x="868680" y="1965960"/>
            <a:ext cx="457200" cy="457200"/>
          </a:xfrm>
          <a:prstGeom prst="rect">
            <a:avLst/>
          </a:prstGeom>
        </p:spPr>
      </p:pic>
      <p:sp>
        <p:nvSpPr>
          <p:cNvPr id="6" name="Text 3"/>
          <p:cNvSpPr/>
          <p:nvPr/>
        </p:nvSpPr>
        <p:spPr>
          <a:xfrm>
            <a:off x="868680" y="2560320"/>
            <a:ext cx="4480560" cy="411480"/>
          </a:xfrm>
          <a:prstGeom prst="rect">
            <a:avLst/>
          </a:prstGeom>
          <a:noFill/>
          <a:ln/>
        </p:spPr>
        <p:txBody>
          <a:bodyPr wrap="square" lIns="0" tIns="0" rIns="0" bIns="0" rtlCol="0" anchor="ctr"/>
          <a:lstStyle/>
          <a:p>
            <a:pPr indent="0" marL="0">
              <a:buNone/>
            </a:pPr>
            <a:r>
              <a:rPr lang="en-US" sz="1900" dirty="0">
                <a:solidFill>
                  <a:srgbClr val="10192B"/>
                </a:solidFill>
                <a:latin typeface="Cambria" pitchFamily="34" charset="0"/>
                <a:ea typeface="Cambria" pitchFamily="34" charset="-122"/>
                <a:cs typeface="Cambria" pitchFamily="34" charset="-120"/>
              </a:rPr>
              <a:t>Option 1 — Sale</a:t>
            </a:r>
            <a:endParaRPr lang="en-US" sz="1900" dirty="0"/>
          </a:p>
        </p:txBody>
      </p:sp>
      <p:sp>
        <p:nvSpPr>
          <p:cNvPr id="7" name="Text 4"/>
          <p:cNvSpPr/>
          <p:nvPr/>
        </p:nvSpPr>
        <p:spPr>
          <a:xfrm>
            <a:off x="868680" y="2999232"/>
            <a:ext cx="4480560" cy="685800"/>
          </a:xfrm>
          <a:prstGeom prst="rect">
            <a:avLst/>
          </a:prstGeom>
          <a:noFill/>
          <a:ln/>
        </p:spPr>
        <p:txBody>
          <a:bodyPr wrap="square" lIns="0" tIns="0" rIns="0" bIns="0" rtlCol="0" anchor="ctr"/>
          <a:lstStyle/>
          <a:p>
            <a:pPr indent="0" marL="0">
              <a:lnSpc>
                <a:spcPct val="120000"/>
              </a:lnSpc>
              <a:buNone/>
            </a:pPr>
            <a:r>
              <a:rPr lang="en-US" sz="1150" dirty="0">
                <a:solidFill>
                  <a:srgbClr val="1C2A40"/>
                </a:solidFill>
                <a:latin typeface="Calibri" pitchFamily="34" charset="0"/>
                <a:ea typeface="Calibri" pitchFamily="34" charset="-122"/>
                <a:cs typeface="Calibri" pitchFamily="34" charset="-120"/>
              </a:rPr>
              <a:t>Sell the stabilized, fully-repositioned asset at the end of the hold period.</a:t>
            </a:r>
            <a:endParaRPr lang="en-US" sz="1150" dirty="0"/>
          </a:p>
        </p:txBody>
      </p:sp>
      <p:sp>
        <p:nvSpPr>
          <p:cNvPr id="8" name="Shape 5"/>
          <p:cNvSpPr/>
          <p:nvPr/>
        </p:nvSpPr>
        <p:spPr>
          <a:xfrm>
            <a:off x="868680" y="3794760"/>
            <a:ext cx="4480560" cy="0"/>
          </a:xfrm>
          <a:prstGeom prst="line">
            <a:avLst/>
          </a:prstGeom>
          <a:noFill/>
          <a:ln w="12700">
            <a:solidFill>
              <a:srgbClr val="D8CFB6"/>
            </a:solidFill>
            <a:prstDash val="solid"/>
          </a:ln>
        </p:spPr>
      </p:sp>
      <p:sp>
        <p:nvSpPr>
          <p:cNvPr id="9" name="Text 6"/>
          <p:cNvSpPr/>
          <p:nvPr/>
        </p:nvSpPr>
        <p:spPr>
          <a:xfrm>
            <a:off x="868680" y="3931920"/>
            <a:ext cx="1554480" cy="548640"/>
          </a:xfrm>
          <a:prstGeom prst="rect">
            <a:avLst/>
          </a:prstGeom>
          <a:noFill/>
          <a:ln/>
        </p:spPr>
        <p:txBody>
          <a:bodyPr wrap="square" lIns="0" tIns="0" rIns="0" bIns="0" rtlCol="0" anchor="ctr"/>
          <a:lstStyle/>
          <a:p>
            <a:pPr indent="0" marL="0">
              <a:buNone/>
            </a:pPr>
            <a:r>
              <a:rPr lang="en-US" sz="3000" dirty="0">
                <a:solidFill>
                  <a:srgbClr val="8A6529"/>
                </a:solidFill>
                <a:latin typeface="Cambria" pitchFamily="34" charset="0"/>
                <a:ea typeface="Cambria" pitchFamily="34" charset="-122"/>
                <a:cs typeface="Cambria" pitchFamily="34" charset="-120"/>
              </a:rPr>
              <a:t>45%</a:t>
            </a:r>
            <a:endParaRPr lang="en-US" sz="3000" dirty="0"/>
          </a:p>
        </p:txBody>
      </p:sp>
      <p:sp>
        <p:nvSpPr>
          <p:cNvPr id="10" name="Text 7"/>
          <p:cNvSpPr/>
          <p:nvPr/>
        </p:nvSpPr>
        <p:spPr>
          <a:xfrm>
            <a:off x="2286000" y="4069080"/>
            <a:ext cx="3017520" cy="365760"/>
          </a:xfrm>
          <a:prstGeom prst="rect">
            <a:avLst/>
          </a:prstGeom>
          <a:noFill/>
          <a:ln/>
        </p:spPr>
        <p:txBody>
          <a:bodyPr wrap="square" lIns="0" tIns="0" rIns="0" bIns="0" rtlCol="0" anchor="ctr"/>
          <a:lstStyle/>
          <a:p>
            <a:pPr indent="0" marL="0">
              <a:buNone/>
            </a:pPr>
            <a:r>
              <a:rPr lang="en-US" sz="950" spc="50" kern="0" dirty="0">
                <a:solidFill>
                  <a:srgbClr val="616B80"/>
                </a:solidFill>
                <a:latin typeface="Calibri" pitchFamily="34" charset="0"/>
                <a:ea typeface="Calibri" pitchFamily="34" charset="-122"/>
                <a:cs typeface="Calibri" pitchFamily="34" charset="-120"/>
              </a:rPr>
              <a:t>TARGET TOTAL ROI</a:t>
            </a:r>
            <a:endParaRPr lang="en-US" sz="950" dirty="0"/>
          </a:p>
        </p:txBody>
      </p:sp>
      <p:sp>
        <p:nvSpPr>
          <p:cNvPr id="11" name="Shape 8"/>
          <p:cNvSpPr/>
          <p:nvPr/>
        </p:nvSpPr>
        <p:spPr>
          <a:xfrm>
            <a:off x="5943600" y="1691640"/>
            <a:ext cx="5120640" cy="3017520"/>
          </a:xfrm>
          <a:prstGeom prst="rect">
            <a:avLst/>
          </a:prstGeom>
          <a:solidFill>
            <a:srgbClr val="FBF8F1"/>
          </a:solidFill>
          <a:ln w="12700">
            <a:solidFill>
              <a:srgbClr val="D8CFB6"/>
            </a:solidFill>
            <a:prstDash val="solid"/>
          </a:ln>
        </p:spPr>
      </p:sp>
      <p:pic>
        <p:nvPicPr>
          <p:cNvPr id="12" name="Image 1" descr="preencoded.png">    </p:cNvPr>
          <p:cNvPicPr>
            <a:picLocks noChangeAspect="1"/>
          </p:cNvPicPr>
          <p:nvPr/>
        </p:nvPicPr>
        <p:blipFill>
          <a:blip r:embed="rId2"/>
          <a:stretch>
            <a:fillRect/>
          </a:stretch>
        </p:blipFill>
        <p:spPr>
          <a:xfrm>
            <a:off x="6263640" y="1965960"/>
            <a:ext cx="457200" cy="457200"/>
          </a:xfrm>
          <a:prstGeom prst="rect">
            <a:avLst/>
          </a:prstGeom>
        </p:spPr>
      </p:pic>
      <p:sp>
        <p:nvSpPr>
          <p:cNvPr id="13" name="Text 9"/>
          <p:cNvSpPr/>
          <p:nvPr/>
        </p:nvSpPr>
        <p:spPr>
          <a:xfrm>
            <a:off x="6263640" y="2560320"/>
            <a:ext cx="4480560" cy="411480"/>
          </a:xfrm>
          <a:prstGeom prst="rect">
            <a:avLst/>
          </a:prstGeom>
          <a:noFill/>
          <a:ln/>
        </p:spPr>
        <p:txBody>
          <a:bodyPr wrap="square" lIns="0" tIns="0" rIns="0" bIns="0" rtlCol="0" anchor="ctr"/>
          <a:lstStyle/>
          <a:p>
            <a:pPr indent="0" marL="0">
              <a:buNone/>
            </a:pPr>
            <a:r>
              <a:rPr lang="en-US" sz="1900" dirty="0">
                <a:solidFill>
                  <a:srgbClr val="10192B"/>
                </a:solidFill>
                <a:latin typeface="Cambria" pitchFamily="34" charset="0"/>
                <a:ea typeface="Cambria" pitchFamily="34" charset="-122"/>
                <a:cs typeface="Cambria" pitchFamily="34" charset="-120"/>
              </a:rPr>
              <a:t>Option 2 — Refinance</a:t>
            </a:r>
            <a:endParaRPr lang="en-US" sz="1900" dirty="0"/>
          </a:p>
        </p:txBody>
      </p:sp>
      <p:sp>
        <p:nvSpPr>
          <p:cNvPr id="14" name="Text 10"/>
          <p:cNvSpPr/>
          <p:nvPr/>
        </p:nvSpPr>
        <p:spPr>
          <a:xfrm>
            <a:off x="6263640" y="2999232"/>
            <a:ext cx="4480560" cy="685800"/>
          </a:xfrm>
          <a:prstGeom prst="rect">
            <a:avLst/>
          </a:prstGeom>
          <a:noFill/>
          <a:ln/>
        </p:spPr>
        <p:txBody>
          <a:bodyPr wrap="square" lIns="0" tIns="0" rIns="0" bIns="0" rtlCol="0" anchor="ctr"/>
          <a:lstStyle/>
          <a:p>
            <a:pPr indent="0" marL="0">
              <a:lnSpc>
                <a:spcPct val="120000"/>
              </a:lnSpc>
              <a:buNone/>
            </a:pPr>
            <a:r>
              <a:rPr lang="en-US" sz="1150" dirty="0">
                <a:solidFill>
                  <a:srgbClr val="1C2A40"/>
                </a:solidFill>
                <a:latin typeface="Calibri" pitchFamily="34" charset="0"/>
                <a:ea typeface="Calibri" pitchFamily="34" charset="-122"/>
                <a:cs typeface="Calibri" pitchFamily="34" charset="-120"/>
              </a:rPr>
              <a:t>Cash-out refinance once stabilized, returning investor capital while MANAV retains the asset.</a:t>
            </a:r>
            <a:endParaRPr lang="en-US" sz="1150" dirty="0"/>
          </a:p>
        </p:txBody>
      </p:sp>
      <p:sp>
        <p:nvSpPr>
          <p:cNvPr id="15" name="Shape 11"/>
          <p:cNvSpPr/>
          <p:nvPr/>
        </p:nvSpPr>
        <p:spPr>
          <a:xfrm>
            <a:off x="6263640" y="3794760"/>
            <a:ext cx="4480560" cy="0"/>
          </a:xfrm>
          <a:prstGeom prst="line">
            <a:avLst/>
          </a:prstGeom>
          <a:noFill/>
          <a:ln w="12700">
            <a:solidFill>
              <a:srgbClr val="D8CFB6"/>
            </a:solidFill>
            <a:prstDash val="solid"/>
          </a:ln>
        </p:spPr>
      </p:sp>
      <p:sp>
        <p:nvSpPr>
          <p:cNvPr id="16" name="Text 12"/>
          <p:cNvSpPr/>
          <p:nvPr/>
        </p:nvSpPr>
        <p:spPr>
          <a:xfrm>
            <a:off x="6263640" y="3931920"/>
            <a:ext cx="1554480" cy="548640"/>
          </a:xfrm>
          <a:prstGeom prst="rect">
            <a:avLst/>
          </a:prstGeom>
          <a:noFill/>
          <a:ln/>
        </p:spPr>
        <p:txBody>
          <a:bodyPr wrap="square" lIns="0" tIns="0" rIns="0" bIns="0" rtlCol="0" anchor="ctr"/>
          <a:lstStyle/>
          <a:p>
            <a:pPr indent="0" marL="0">
              <a:buNone/>
            </a:pPr>
            <a:r>
              <a:rPr lang="en-US" sz="3000" dirty="0">
                <a:solidFill>
                  <a:srgbClr val="8A6529"/>
                </a:solidFill>
                <a:latin typeface="Cambria" pitchFamily="34" charset="0"/>
                <a:ea typeface="Cambria" pitchFamily="34" charset="-122"/>
                <a:cs typeface="Cambria" pitchFamily="34" charset="-120"/>
              </a:rPr>
              <a:t>7%</a:t>
            </a:r>
            <a:endParaRPr lang="en-US" sz="3000" dirty="0"/>
          </a:p>
        </p:txBody>
      </p:sp>
      <p:sp>
        <p:nvSpPr>
          <p:cNvPr id="17" name="Text 13"/>
          <p:cNvSpPr/>
          <p:nvPr/>
        </p:nvSpPr>
        <p:spPr>
          <a:xfrm>
            <a:off x="7680960" y="4069080"/>
            <a:ext cx="3017520" cy="365760"/>
          </a:xfrm>
          <a:prstGeom prst="rect">
            <a:avLst/>
          </a:prstGeom>
          <a:noFill/>
          <a:ln/>
        </p:spPr>
        <p:txBody>
          <a:bodyPr wrap="square" lIns="0" tIns="0" rIns="0" bIns="0" rtlCol="0" anchor="ctr"/>
          <a:lstStyle/>
          <a:p>
            <a:pPr indent="0" marL="0">
              <a:buNone/>
            </a:pPr>
            <a:r>
              <a:rPr lang="en-US" sz="950" spc="50" kern="0" dirty="0">
                <a:solidFill>
                  <a:srgbClr val="616B80"/>
                </a:solidFill>
                <a:latin typeface="Calibri" pitchFamily="34" charset="0"/>
                <a:ea typeface="Calibri" pitchFamily="34" charset="-122"/>
                <a:cs typeface="Calibri" pitchFamily="34" charset="-120"/>
              </a:rPr>
              <a:t>TARGET CASH-OUT RATE</a:t>
            </a:r>
            <a:endParaRPr lang="en-US" sz="950" dirty="0"/>
          </a:p>
        </p:txBody>
      </p:sp>
      <p:sp>
        <p:nvSpPr>
          <p:cNvPr id="18" name="Text 14"/>
          <p:cNvSpPr/>
          <p:nvPr/>
        </p:nvSpPr>
        <p:spPr>
          <a:xfrm>
            <a:off x="548640" y="4983480"/>
            <a:ext cx="10515600" cy="457200"/>
          </a:xfrm>
          <a:prstGeom prst="rect">
            <a:avLst/>
          </a:prstGeom>
          <a:noFill/>
          <a:ln/>
        </p:spPr>
        <p:txBody>
          <a:bodyPr wrap="square" lIns="0" tIns="0" rIns="0" bIns="0" rtlCol="0" anchor="ctr"/>
          <a:lstStyle/>
          <a:p>
            <a:pPr indent="0" marL="0">
              <a:lnSpc>
                <a:spcPct val="120000"/>
              </a:lnSpc>
              <a:buNone/>
            </a:pPr>
            <a:r>
              <a:rPr lang="en-US" sz="1000" i="1" dirty="0">
                <a:solidFill>
                  <a:srgbClr val="616B80"/>
                </a:solidFill>
                <a:latin typeface="Calibri" pitchFamily="34" charset="0"/>
                <a:ea typeface="Calibri" pitchFamily="34" charset="-122"/>
                <a:cs typeface="Calibri" pitchFamily="34" charset="-120"/>
              </a:rPr>
              <a:t>Sale ROI and refinance rate are underwriting targets, not guarantees — actual terms depend on market conditions, lender criteria, and appraised value at time of exit.</a:t>
            </a:r>
            <a:endParaRPr lang="en-US" sz="1000" dirty="0"/>
          </a:p>
        </p:txBody>
      </p:sp>
      <p:sp>
        <p:nvSpPr>
          <p:cNvPr id="19" name="Text 15"/>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20" name="Text 16"/>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3"/>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8A6529"/>
                </a:solidFill>
                <a:latin typeface="Calibri" pitchFamily="34" charset="0"/>
                <a:ea typeface="Calibri" pitchFamily="34" charset="-122"/>
                <a:cs typeface="Calibri" pitchFamily="34" charset="-120"/>
              </a:rPr>
              <a:t>RISK FACTORS</a:t>
            </a:r>
            <a:endParaRPr lang="en-US" sz="1100" dirty="0"/>
          </a:p>
        </p:txBody>
      </p:sp>
      <p:sp>
        <p:nvSpPr>
          <p:cNvPr id="3" name="Text 1"/>
          <p:cNvSpPr/>
          <p:nvPr/>
        </p:nvSpPr>
        <p:spPr>
          <a:xfrm>
            <a:off x="548640" y="822960"/>
            <a:ext cx="9601200" cy="548640"/>
          </a:xfrm>
          <a:prstGeom prst="rect">
            <a:avLst/>
          </a:prstGeom>
          <a:noFill/>
          <a:ln/>
        </p:spPr>
        <p:txBody>
          <a:bodyPr wrap="square" lIns="0" tIns="0" rIns="0" bIns="0" rtlCol="0" anchor="ctr"/>
          <a:lstStyle/>
          <a:p>
            <a:pPr indent="0" marL="0">
              <a:buNone/>
            </a:pPr>
            <a:r>
              <a:rPr lang="en-US" sz="2700" dirty="0">
                <a:solidFill>
                  <a:srgbClr val="10192B"/>
                </a:solidFill>
                <a:latin typeface="Cambria" pitchFamily="34" charset="0"/>
                <a:ea typeface="Cambria" pitchFamily="34" charset="-122"/>
                <a:cs typeface="Cambria" pitchFamily="34" charset="-120"/>
              </a:rPr>
              <a:t>Risk is real. So is our plan to manage it.</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7772400"/>
              </a:tblGrid>
              <a:tr h="457200">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Mitigation</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EFE7D2"/>
                    </a:solidFill>
                  </a:tcPr>
                </a:tc>
              </a:tr>
              <a:tr h="777240">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Renovation cost or timeline overrun</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00" dirty="0">
                          <a:solidFill>
                            <a:srgbClr val="1C2A40"/>
                          </a:solidFill>
                          <a:latin typeface="Calibri" pitchFamily="34" charset="0"/>
                          <a:ea typeface="Calibri" pitchFamily="34" charset="-122"/>
                          <a:cs typeface="Calibri" pitchFamily="34" charset="-120"/>
                        </a:rPr>
                        <a:t>Fixed-scope contractor bids, contingency reserve built into the renovation budget, licensed owner-managed crew.</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777240">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Slower-than-planned lease-up at market rents</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00" dirty="0">
                          <a:solidFill>
                            <a:srgbClr val="1C2A40"/>
                          </a:solidFill>
                          <a:latin typeface="Calibri" pitchFamily="34" charset="0"/>
                          <a:ea typeface="Calibri" pitchFamily="34" charset="-122"/>
                          <a:cs typeface="Calibri" pitchFamily="34" charset="-120"/>
                        </a:rPr>
                        <a:t>Conservative underwriting on rent-up pace; direct marketing to base-adjacent renter demand.</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777240">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Interest rate movement at refinance</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00" dirty="0">
                          <a:solidFill>
                            <a:srgbClr val="1C2A40"/>
                          </a:solidFill>
                          <a:latin typeface="Calibri" pitchFamily="34" charset="0"/>
                          <a:ea typeface="Calibri" pitchFamily="34" charset="-122"/>
                          <a:cs typeface="Calibri" pitchFamily="34" charset="-120"/>
                        </a:rPr>
                        <a:t>Refinance target rate stress-tested against current forecasts; sale remains the fallback exit.</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r h="777240">
                <a:tc>
                  <a:txBody>
                    <a:bodyPr/>
                    <a:lstStyle/>
                    <a:p>
                      <a:pPr indent="0" marL="0">
                        <a:buNone/>
                      </a:pPr>
                      <a:r>
                        <a:rPr lang="en-US" sz="1100" b="1" dirty="0">
                          <a:solidFill>
                            <a:srgbClr val="10192B"/>
                          </a:solidFill>
                          <a:latin typeface="Calibri" pitchFamily="34" charset="0"/>
                          <a:ea typeface="Calibri" pitchFamily="34" charset="-122"/>
                          <a:cs typeface="Calibri" pitchFamily="34" charset="-120"/>
                        </a:rPr>
                        <a:t>Local market or base-driven demand shift</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c>
                  <a:txBody>
                    <a:bodyPr/>
                    <a:lstStyle/>
                    <a:p>
                      <a:pPr indent="0" marL="0">
                        <a:buNone/>
                      </a:pPr>
                      <a:r>
                        <a:rPr lang="en-US" sz="1100" dirty="0">
                          <a:solidFill>
                            <a:srgbClr val="1C2A40"/>
                          </a:solidFill>
                          <a:latin typeface="Calibri" pitchFamily="34" charset="0"/>
                          <a:ea typeface="Calibri" pitchFamily="34" charset="-122"/>
                          <a:cs typeface="Calibri" pitchFamily="34" charset="-120"/>
                        </a:rPr>
                        <a:t>Diversified MANAV portfolio across renovation, multifamily, and STR/MTR strategies limits single-asset exposure.</a:t>
                      </a:r>
                      <a:endParaRPr lang="en-US" sz="1100" dirty="0">
                        <a:latin typeface="Calibri" charset="0"/>
                        <a:ea typeface="Calibri" charset="0"/>
                        <a:cs typeface="Calibri" charset="0"/>
                      </a:endParaRPr>
                    </a:p>
                  </a:txBody>
                  <a:tcPr marL="91440" marR="91440" marT="45720" marB="45720">
                    <a:lnL w="9525" cap="flat" cmpd="sng" algn="ctr">
                      <a:solidFill>
                        <a:srgbClr val="D8CFB6"/>
                      </a:solidFill>
                      <a:prstDash val="solid"/>
                      <a:round/>
                      <a:headEnd type="none" w="med" len="med"/>
                      <a:tailEnd type="none" w="med" len="med"/>
                    </a:lnL>
                    <a:lnR w="9525" cap="flat" cmpd="sng" algn="ctr">
                      <a:solidFill>
                        <a:srgbClr val="D8CFB6"/>
                      </a:solidFill>
                      <a:prstDash val="solid"/>
                      <a:round/>
                      <a:headEnd type="none" w="med" len="med"/>
                      <a:tailEnd type="none" w="med" len="med"/>
                    </a:lnR>
                    <a:lnT w="9525" cap="flat" cmpd="sng" algn="ctr">
                      <a:solidFill>
                        <a:srgbClr val="D8CFB6"/>
                      </a:solidFill>
                      <a:prstDash val="solid"/>
                      <a:round/>
                      <a:headEnd type="none" w="med" len="med"/>
                      <a:tailEnd type="none" w="med" len="med"/>
                    </a:lnT>
                    <a:lnB w="9525" cap="flat" cmpd="sng" algn="ctr">
                      <a:solidFill>
                        <a:srgbClr val="D8CFB6"/>
                      </a:solidFill>
                      <a:prstDash val="solid"/>
                      <a:round/>
                      <a:headEnd type="none" w="med" len="med"/>
                      <a:tailEnd type="none" w="med" len="med"/>
                    </a:lnB>
                    <a:solidFill>
                      <a:srgbClr val="FBF8F1"/>
                    </a:solidFill>
                  </a:tcPr>
                </a:tc>
              </a:tr>
            </a:tbl>
          </a:graphicData>
        </a:graphic>
      </p:graphicFrame>
      <p:sp>
        <p:nvSpPr>
          <p:cNvPr id="5" name="Text 2"/>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616B80"/>
                </a:solidFill>
                <a:latin typeface="Calibri" pitchFamily="34" charset="0"/>
                <a:ea typeface="Calibri" pitchFamily="34" charset="-122"/>
                <a:cs typeface="Calibri" pitchFamily="34" charset="-120"/>
              </a:rPr>
              <a:t>MANAV CAPITAL GROUP</a:t>
            </a:r>
            <a:endParaRPr lang="en-US" sz="900" dirty="0"/>
          </a:p>
        </p:txBody>
      </p:sp>
      <p:sp>
        <p:nvSpPr>
          <p:cNvPr id="6" name="Text 3"/>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616B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100" b="1" spc="200" kern="0" dirty="0">
                <a:solidFill>
                  <a:srgbClr val="B4863D"/>
                </a:solidFill>
                <a:latin typeface="Calibri" pitchFamily="34" charset="0"/>
                <a:ea typeface="Calibri" pitchFamily="34" charset="-122"/>
                <a:cs typeface="Calibri" pitchFamily="34" charset="-120"/>
              </a:rPr>
              <a:t>WHY MANAV</a:t>
            </a:r>
            <a:endParaRPr lang="en-US" sz="1100" dirty="0"/>
          </a:p>
        </p:txBody>
      </p:sp>
      <p:sp>
        <p:nvSpPr>
          <p:cNvPr id="3" name="Text 1"/>
          <p:cNvSpPr/>
          <p:nvPr/>
        </p:nvSpPr>
        <p:spPr>
          <a:xfrm>
            <a:off x="548640" y="822960"/>
            <a:ext cx="9144000" cy="640080"/>
          </a:xfrm>
          <a:prstGeom prst="rect">
            <a:avLst/>
          </a:prstGeom>
          <a:noFill/>
          <a:ln/>
        </p:spPr>
        <p:txBody>
          <a:bodyPr wrap="square" lIns="0" tIns="0" rIns="0" bIns="0" rtlCol="0" anchor="ctr"/>
          <a:lstStyle/>
          <a:p>
            <a:pPr indent="0" marL="0">
              <a:buNone/>
            </a:pPr>
            <a:r>
              <a:rPr lang="en-US" sz="2600" dirty="0">
                <a:solidFill>
                  <a:srgbClr val="F4EFE3"/>
                </a:solidFill>
                <a:latin typeface="Cambria" pitchFamily="34" charset="0"/>
                <a:ea typeface="Cambria" pitchFamily="34" charset="-122"/>
                <a:cs typeface="Cambria" pitchFamily="34" charset="-120"/>
              </a:rPr>
              <a:t>One team. Renovate, lease, manage, </a:t>
            </a:r>
            <a:pPr indent="0" marL="0">
              <a:buNone/>
            </a:pPr>
            <a:r>
              <a:rPr lang="en-US" sz="2600" i="1" dirty="0">
                <a:solidFill>
                  <a:srgbClr val="B4863D"/>
                </a:solidFill>
                <a:latin typeface="Cambria" pitchFamily="34" charset="0"/>
                <a:ea typeface="Cambria" pitchFamily="34" charset="-122"/>
                <a:cs typeface="Cambria" pitchFamily="34" charset="-120"/>
              </a:rPr>
              <a:t>reposition</a:t>
            </a:r>
            <a:pPr indent="0" marL="0">
              <a:buNone/>
            </a:pPr>
            <a:r>
              <a:rPr lang="en-US" sz="2600" dirty="0">
                <a:solidFill>
                  <a:srgbClr val="F4EFE3"/>
                </a:solidFill>
                <a:latin typeface="Cambria" pitchFamily="34" charset="0"/>
                <a:ea typeface="Cambria" pitchFamily="34" charset="-122"/>
                <a:cs typeface="Cambria" pitchFamily="34" charset="-120"/>
              </a:rPr>
              <a:t>.</a:t>
            </a:r>
            <a:endParaRPr lang="en-US" sz="2600" dirty="0"/>
          </a:p>
        </p:txBody>
      </p:sp>
      <p:sp>
        <p:nvSpPr>
          <p:cNvPr id="4" name="Shape 2"/>
          <p:cNvSpPr/>
          <p:nvPr/>
        </p:nvSpPr>
        <p:spPr>
          <a:xfrm>
            <a:off x="548640" y="1828800"/>
            <a:ext cx="548640" cy="548640"/>
          </a:xfrm>
          <a:prstGeom prst="ellipse">
            <a:avLst/>
          </a:prstGeom>
          <a:solidFill>
            <a:srgbClr val="1A2740"/>
          </a:solidFill>
          <a:ln w="12700">
            <a:solidFill>
              <a:srgbClr val="B4863D"/>
            </a:solidFill>
            <a:prstDash val="solid"/>
          </a:ln>
        </p:spPr>
      </p:sp>
      <p:pic>
        <p:nvPicPr>
          <p:cNvPr id="5" name="Image 0" descr="preencoded.png">    </p:cNvPr>
          <p:cNvPicPr>
            <a:picLocks noChangeAspect="1"/>
          </p:cNvPicPr>
          <p:nvPr/>
        </p:nvPicPr>
        <p:blipFill>
          <a:blip r:embed="rId1"/>
          <a:stretch>
            <a:fillRect/>
          </a:stretch>
        </p:blipFill>
        <p:spPr>
          <a:xfrm>
            <a:off x="667512" y="1947672"/>
            <a:ext cx="310896" cy="310896"/>
          </a:xfrm>
          <a:prstGeom prst="rect">
            <a:avLst/>
          </a:prstGeom>
        </p:spPr>
      </p:pic>
      <p:sp>
        <p:nvSpPr>
          <p:cNvPr id="6" name="Text 3"/>
          <p:cNvSpPr/>
          <p:nvPr/>
        </p:nvSpPr>
        <p:spPr>
          <a:xfrm>
            <a:off x="1280160" y="1810512"/>
            <a:ext cx="4297680" cy="365760"/>
          </a:xfrm>
          <a:prstGeom prst="rect">
            <a:avLst/>
          </a:prstGeom>
          <a:noFill/>
          <a:ln/>
        </p:spPr>
        <p:txBody>
          <a:bodyPr wrap="square" lIns="0" tIns="0" rIns="0" bIns="0" rtlCol="0" anchor="ctr"/>
          <a:lstStyle/>
          <a:p>
            <a:pPr indent="0" marL="0">
              <a:buNone/>
            </a:pPr>
            <a:r>
              <a:rPr lang="en-US" sz="1450" b="1" dirty="0">
                <a:solidFill>
                  <a:srgbClr val="F4EFE3"/>
                </a:solidFill>
                <a:latin typeface="Calibri" pitchFamily="34" charset="0"/>
                <a:ea typeface="Calibri" pitchFamily="34" charset="-122"/>
                <a:cs typeface="Calibri" pitchFamily="34" charset="-120"/>
              </a:rPr>
              <a:t>Direct ownership</a:t>
            </a:r>
            <a:endParaRPr lang="en-US" sz="1450" dirty="0"/>
          </a:p>
        </p:txBody>
      </p:sp>
      <p:sp>
        <p:nvSpPr>
          <p:cNvPr id="7" name="Text 4"/>
          <p:cNvSpPr/>
          <p:nvPr/>
        </p:nvSpPr>
        <p:spPr>
          <a:xfrm>
            <a:off x="1280160" y="2176272"/>
            <a:ext cx="4297680" cy="64008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No syndication — investors hold a direct interest in the asset.</a:t>
            </a:r>
            <a:endParaRPr lang="en-US" sz="1100" dirty="0"/>
          </a:p>
        </p:txBody>
      </p:sp>
      <p:sp>
        <p:nvSpPr>
          <p:cNvPr id="8" name="Shape 5"/>
          <p:cNvSpPr/>
          <p:nvPr/>
        </p:nvSpPr>
        <p:spPr>
          <a:xfrm>
            <a:off x="5943600" y="1828800"/>
            <a:ext cx="548640" cy="548640"/>
          </a:xfrm>
          <a:prstGeom prst="ellipse">
            <a:avLst/>
          </a:prstGeom>
          <a:solidFill>
            <a:srgbClr val="1A2740"/>
          </a:solidFill>
          <a:ln w="12700">
            <a:solidFill>
              <a:srgbClr val="B4863D"/>
            </a:solidFill>
            <a:prstDash val="solid"/>
          </a:ln>
        </p:spPr>
      </p:sp>
      <p:pic>
        <p:nvPicPr>
          <p:cNvPr id="9" name="Image 1" descr="preencoded.png">    </p:cNvPr>
          <p:cNvPicPr>
            <a:picLocks noChangeAspect="1"/>
          </p:cNvPicPr>
          <p:nvPr/>
        </p:nvPicPr>
        <p:blipFill>
          <a:blip r:embed="rId2"/>
          <a:stretch>
            <a:fillRect/>
          </a:stretch>
        </p:blipFill>
        <p:spPr>
          <a:xfrm>
            <a:off x="6062472" y="1947672"/>
            <a:ext cx="310896" cy="310896"/>
          </a:xfrm>
          <a:prstGeom prst="rect">
            <a:avLst/>
          </a:prstGeom>
        </p:spPr>
      </p:pic>
      <p:sp>
        <p:nvSpPr>
          <p:cNvPr id="10" name="Text 6"/>
          <p:cNvSpPr/>
          <p:nvPr/>
        </p:nvSpPr>
        <p:spPr>
          <a:xfrm>
            <a:off x="6675120" y="1810512"/>
            <a:ext cx="4297680" cy="365760"/>
          </a:xfrm>
          <a:prstGeom prst="rect">
            <a:avLst/>
          </a:prstGeom>
          <a:noFill/>
          <a:ln/>
        </p:spPr>
        <p:txBody>
          <a:bodyPr wrap="square" lIns="0" tIns="0" rIns="0" bIns="0" rtlCol="0" anchor="ctr"/>
          <a:lstStyle/>
          <a:p>
            <a:pPr indent="0" marL="0">
              <a:buNone/>
            </a:pPr>
            <a:r>
              <a:rPr lang="en-US" sz="1450" b="1" dirty="0">
                <a:solidFill>
                  <a:srgbClr val="F4EFE3"/>
                </a:solidFill>
                <a:latin typeface="Calibri" pitchFamily="34" charset="0"/>
                <a:ea typeface="Calibri" pitchFamily="34" charset="-122"/>
                <a:cs typeface="Calibri" pitchFamily="34" charset="-120"/>
              </a:rPr>
              <a:t>Hands-on execution</a:t>
            </a:r>
            <a:endParaRPr lang="en-US" sz="1450" dirty="0"/>
          </a:p>
        </p:txBody>
      </p:sp>
      <p:sp>
        <p:nvSpPr>
          <p:cNvPr id="11" name="Text 7"/>
          <p:cNvSpPr/>
          <p:nvPr/>
        </p:nvSpPr>
        <p:spPr>
          <a:xfrm>
            <a:off x="6675120" y="2176272"/>
            <a:ext cx="4297680" cy="64008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Renovation and leasing run by the same team that underwrote the deal.</a:t>
            </a:r>
            <a:endParaRPr lang="en-US" sz="1100" dirty="0"/>
          </a:p>
        </p:txBody>
      </p:sp>
      <p:sp>
        <p:nvSpPr>
          <p:cNvPr id="12" name="Shape 8"/>
          <p:cNvSpPr/>
          <p:nvPr/>
        </p:nvSpPr>
        <p:spPr>
          <a:xfrm>
            <a:off x="548640" y="3520440"/>
            <a:ext cx="548640" cy="548640"/>
          </a:xfrm>
          <a:prstGeom prst="ellipse">
            <a:avLst/>
          </a:prstGeom>
          <a:solidFill>
            <a:srgbClr val="1A2740"/>
          </a:solidFill>
          <a:ln w="12700">
            <a:solidFill>
              <a:srgbClr val="B4863D"/>
            </a:solidFill>
            <a:prstDash val="solid"/>
          </a:ln>
        </p:spPr>
      </p:sp>
      <p:pic>
        <p:nvPicPr>
          <p:cNvPr id="13" name="Image 2" descr="preencoded.png">    </p:cNvPr>
          <p:cNvPicPr>
            <a:picLocks noChangeAspect="1"/>
          </p:cNvPicPr>
          <p:nvPr/>
        </p:nvPicPr>
        <p:blipFill>
          <a:blip r:embed="rId3"/>
          <a:stretch>
            <a:fillRect/>
          </a:stretch>
        </p:blipFill>
        <p:spPr>
          <a:xfrm>
            <a:off x="667512" y="3639312"/>
            <a:ext cx="310896" cy="310896"/>
          </a:xfrm>
          <a:prstGeom prst="rect">
            <a:avLst/>
          </a:prstGeom>
        </p:spPr>
      </p:pic>
      <p:sp>
        <p:nvSpPr>
          <p:cNvPr id="14" name="Text 9"/>
          <p:cNvSpPr/>
          <p:nvPr/>
        </p:nvSpPr>
        <p:spPr>
          <a:xfrm>
            <a:off x="1280160" y="3502152"/>
            <a:ext cx="4297680" cy="365760"/>
          </a:xfrm>
          <a:prstGeom prst="rect">
            <a:avLst/>
          </a:prstGeom>
          <a:noFill/>
          <a:ln/>
        </p:spPr>
        <p:txBody>
          <a:bodyPr wrap="square" lIns="0" tIns="0" rIns="0" bIns="0" rtlCol="0" anchor="ctr"/>
          <a:lstStyle/>
          <a:p>
            <a:pPr indent="0" marL="0">
              <a:buNone/>
            </a:pPr>
            <a:r>
              <a:rPr lang="en-US" sz="1450" b="1" dirty="0">
                <a:solidFill>
                  <a:srgbClr val="F4EFE3"/>
                </a:solidFill>
                <a:latin typeface="Calibri" pitchFamily="34" charset="0"/>
                <a:ea typeface="Calibri" pitchFamily="34" charset="-122"/>
                <a:cs typeface="Calibri" pitchFamily="34" charset="-120"/>
              </a:rPr>
              <a:t>Transparent underwriting</a:t>
            </a:r>
            <a:endParaRPr lang="en-US" sz="1450" dirty="0"/>
          </a:p>
        </p:txBody>
      </p:sp>
      <p:sp>
        <p:nvSpPr>
          <p:cNvPr id="15" name="Text 10"/>
          <p:cNvSpPr/>
          <p:nvPr/>
        </p:nvSpPr>
        <p:spPr>
          <a:xfrm>
            <a:off x="1280160" y="3867912"/>
            <a:ext cx="4297680" cy="64008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Every target return is modeled line-by-line, not promised in the abstract.</a:t>
            </a:r>
            <a:endParaRPr lang="en-US" sz="1100" dirty="0"/>
          </a:p>
        </p:txBody>
      </p:sp>
      <p:sp>
        <p:nvSpPr>
          <p:cNvPr id="16" name="Shape 11"/>
          <p:cNvSpPr/>
          <p:nvPr/>
        </p:nvSpPr>
        <p:spPr>
          <a:xfrm>
            <a:off x="5943600" y="3520440"/>
            <a:ext cx="548640" cy="548640"/>
          </a:xfrm>
          <a:prstGeom prst="ellipse">
            <a:avLst/>
          </a:prstGeom>
          <a:solidFill>
            <a:srgbClr val="1A2740"/>
          </a:solidFill>
          <a:ln w="12700">
            <a:solidFill>
              <a:srgbClr val="B4863D"/>
            </a:solidFill>
            <a:prstDash val="solid"/>
          </a:ln>
        </p:spPr>
      </p:sp>
      <p:pic>
        <p:nvPicPr>
          <p:cNvPr id="17" name="Image 3" descr="preencoded.png">    </p:cNvPr>
          <p:cNvPicPr>
            <a:picLocks noChangeAspect="1"/>
          </p:cNvPicPr>
          <p:nvPr/>
        </p:nvPicPr>
        <p:blipFill>
          <a:blip r:embed="rId4"/>
          <a:stretch>
            <a:fillRect/>
          </a:stretch>
        </p:blipFill>
        <p:spPr>
          <a:xfrm>
            <a:off x="6062472" y="3639312"/>
            <a:ext cx="310896" cy="310896"/>
          </a:xfrm>
          <a:prstGeom prst="rect">
            <a:avLst/>
          </a:prstGeom>
        </p:spPr>
      </p:pic>
      <p:sp>
        <p:nvSpPr>
          <p:cNvPr id="18" name="Text 12"/>
          <p:cNvSpPr/>
          <p:nvPr/>
        </p:nvSpPr>
        <p:spPr>
          <a:xfrm>
            <a:off x="6675120" y="3502152"/>
            <a:ext cx="4297680" cy="365760"/>
          </a:xfrm>
          <a:prstGeom prst="rect">
            <a:avLst/>
          </a:prstGeom>
          <a:noFill/>
          <a:ln/>
        </p:spPr>
        <p:txBody>
          <a:bodyPr wrap="square" lIns="0" tIns="0" rIns="0" bIns="0" rtlCol="0" anchor="ctr"/>
          <a:lstStyle/>
          <a:p>
            <a:pPr indent="0" marL="0">
              <a:buNone/>
            </a:pPr>
            <a:r>
              <a:rPr lang="en-US" sz="1450" b="1" dirty="0">
                <a:solidFill>
                  <a:srgbClr val="F4EFE3"/>
                </a:solidFill>
                <a:latin typeface="Calibri" pitchFamily="34" charset="0"/>
                <a:ea typeface="Calibri" pitchFamily="34" charset="-122"/>
                <a:cs typeface="Calibri" pitchFamily="34" charset="-120"/>
              </a:rPr>
              <a:t>The human touch</a:t>
            </a:r>
            <a:endParaRPr lang="en-US" sz="1450" dirty="0"/>
          </a:p>
        </p:txBody>
      </p:sp>
      <p:sp>
        <p:nvSpPr>
          <p:cNvPr id="19" name="Text 13"/>
          <p:cNvSpPr/>
          <p:nvPr/>
        </p:nvSpPr>
        <p:spPr>
          <a:xfrm>
            <a:off x="6675120" y="3867912"/>
            <a:ext cx="4297680" cy="640080"/>
          </a:xfrm>
          <a:prstGeom prst="rect">
            <a:avLst/>
          </a:prstGeom>
          <a:noFill/>
          <a:ln/>
        </p:spPr>
        <p:txBody>
          <a:bodyPr wrap="square" lIns="0" tIns="0" rIns="0" bIns="0" rtlCol="0" anchor="ctr"/>
          <a:lstStyle/>
          <a:p>
            <a:pPr indent="0" marL="0">
              <a:lnSpc>
                <a:spcPct val="120000"/>
              </a:lnSpc>
              <a:buNone/>
            </a:pPr>
            <a:r>
              <a:rPr lang="en-US" sz="1100" dirty="0">
                <a:solidFill>
                  <a:srgbClr val="A9B2C4"/>
                </a:solidFill>
                <a:latin typeface="Calibri" pitchFamily="34" charset="0"/>
                <a:ea typeface="Calibri" pitchFamily="34" charset="-122"/>
                <a:cs typeface="Calibri" pitchFamily="34" charset="-120"/>
              </a:rPr>
              <a:t>Real people managing real properties — not a call center.</a:t>
            </a:r>
            <a:endParaRPr lang="en-US" sz="1100" dirty="0"/>
          </a:p>
        </p:txBody>
      </p:sp>
      <p:sp>
        <p:nvSpPr>
          <p:cNvPr id="20" name="Text 14"/>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21" name="Text 15"/>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0" y="1417320"/>
            <a:ext cx="12191695" cy="320040"/>
          </a:xfrm>
          <a:prstGeom prst="rect">
            <a:avLst/>
          </a:prstGeom>
          <a:noFill/>
          <a:ln/>
        </p:spPr>
        <p:txBody>
          <a:bodyPr wrap="square" lIns="0" tIns="0" rIns="0" bIns="0" rtlCol="0" anchor="ctr"/>
          <a:lstStyle/>
          <a:p>
            <a:pPr algn="ctr" indent="0" marL="0">
              <a:buNone/>
            </a:pPr>
            <a:r>
              <a:rPr lang="en-US" sz="1100" b="1" spc="200" kern="0" dirty="0">
                <a:solidFill>
                  <a:srgbClr val="B4863D"/>
                </a:solidFill>
                <a:latin typeface="Calibri" pitchFamily="34" charset="0"/>
                <a:ea typeface="Calibri" pitchFamily="34" charset="-122"/>
                <a:cs typeface="Calibri" pitchFamily="34" charset="-120"/>
              </a:rPr>
              <a:t>GET IN TOUCH</a:t>
            </a:r>
            <a:endParaRPr lang="en-US" sz="1100" dirty="0"/>
          </a:p>
        </p:txBody>
      </p:sp>
      <p:sp>
        <p:nvSpPr>
          <p:cNvPr id="3" name="Text 1"/>
          <p:cNvSpPr/>
          <p:nvPr/>
        </p:nvSpPr>
        <p:spPr>
          <a:xfrm>
            <a:off x="0" y="1828800"/>
            <a:ext cx="12191695" cy="731520"/>
          </a:xfrm>
          <a:prstGeom prst="rect">
            <a:avLst/>
          </a:prstGeom>
          <a:noFill/>
          <a:ln/>
        </p:spPr>
        <p:txBody>
          <a:bodyPr wrap="square" lIns="0" tIns="0" rIns="0" bIns="0" rtlCol="0" anchor="ctr"/>
          <a:lstStyle/>
          <a:p>
            <a:pPr algn="ctr" indent="0" marL="0">
              <a:buNone/>
            </a:pPr>
            <a:r>
              <a:rPr lang="en-US" sz="3200" dirty="0">
                <a:solidFill>
                  <a:srgbClr val="F4EFE3"/>
                </a:solidFill>
                <a:latin typeface="Cambria" pitchFamily="34" charset="0"/>
                <a:ea typeface="Cambria" pitchFamily="34" charset="-122"/>
                <a:cs typeface="Cambria" pitchFamily="34" charset="-120"/>
              </a:rPr>
              <a:t>Ready to invest with </a:t>
            </a:r>
            <a:pPr algn="ctr" indent="0" marL="0">
              <a:buNone/>
            </a:pPr>
            <a:r>
              <a:rPr lang="en-US" sz="3200" i="1" dirty="0">
                <a:solidFill>
                  <a:srgbClr val="B4863D"/>
                </a:solidFill>
                <a:latin typeface="Cambria" pitchFamily="34" charset="0"/>
                <a:ea typeface="Cambria" pitchFamily="34" charset="-122"/>
                <a:cs typeface="Cambria" pitchFamily="34" charset="-120"/>
              </a:rPr>
              <a:t>the human touch</a:t>
            </a:r>
            <a:pPr algn="ctr" indent="0" marL="0">
              <a:buNone/>
            </a:pPr>
            <a:r>
              <a:rPr lang="en-US" sz="3200" dirty="0">
                <a:solidFill>
                  <a:srgbClr val="F4EFE3"/>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2986888" y="2606040"/>
            <a:ext cx="6217920" cy="548640"/>
          </a:xfrm>
          <a:prstGeom prst="rect">
            <a:avLst/>
          </a:prstGeom>
          <a:noFill/>
          <a:ln/>
        </p:spPr>
        <p:txBody>
          <a:bodyPr wrap="square" lIns="0" tIns="0" rIns="0" bIns="0" rtlCol="0" anchor="ctr"/>
          <a:lstStyle/>
          <a:p>
            <a:pPr algn="ctr" indent="0" marL="0">
              <a:buNone/>
            </a:pPr>
            <a:r>
              <a:rPr lang="en-US" sz="1300" dirty="0">
                <a:solidFill>
                  <a:srgbClr val="A9B2C4"/>
                </a:solidFill>
                <a:latin typeface="Calibri" pitchFamily="34" charset="0"/>
                <a:ea typeface="Calibri" pitchFamily="34" charset="-122"/>
                <a:cs typeface="Calibri" pitchFamily="34" charset="-120"/>
              </a:rPr>
              <a:t>Request full underwriting, renovation budget detail, and current availability for 731 N Davis Dr.</a:t>
            </a:r>
            <a:endParaRPr lang="en-US" sz="1300" dirty="0"/>
          </a:p>
        </p:txBody>
      </p:sp>
      <p:pic>
        <p:nvPicPr>
          <p:cNvPr id="5" name="Image 0" descr="preencoded.png">    </p:cNvPr>
          <p:cNvPicPr>
            <a:picLocks noChangeAspect="1"/>
          </p:cNvPicPr>
          <p:nvPr/>
        </p:nvPicPr>
        <p:blipFill>
          <a:blip r:embed="rId1"/>
          <a:stretch>
            <a:fillRect/>
          </a:stretch>
        </p:blipFill>
        <p:spPr>
          <a:xfrm>
            <a:off x="4587088" y="3429000"/>
            <a:ext cx="256032" cy="256032"/>
          </a:xfrm>
          <a:prstGeom prst="rect">
            <a:avLst/>
          </a:prstGeom>
        </p:spPr>
      </p:pic>
      <p:sp>
        <p:nvSpPr>
          <p:cNvPr id="6" name="Text 3"/>
          <p:cNvSpPr/>
          <p:nvPr/>
        </p:nvSpPr>
        <p:spPr>
          <a:xfrm>
            <a:off x="4907128" y="3401568"/>
            <a:ext cx="3200400" cy="320040"/>
          </a:xfrm>
          <a:prstGeom prst="rect">
            <a:avLst/>
          </a:prstGeom>
          <a:noFill/>
          <a:ln/>
        </p:spPr>
        <p:txBody>
          <a:bodyPr wrap="square" lIns="0" tIns="0" rIns="0" bIns="0" rtlCol="0" anchor="ctr"/>
          <a:lstStyle/>
          <a:p>
            <a:pPr indent="0" marL="0">
              <a:buNone/>
            </a:pPr>
            <a:r>
              <a:rPr lang="en-US" sz="1400" dirty="0">
                <a:solidFill>
                  <a:srgbClr val="D9BC84"/>
                </a:solidFill>
                <a:latin typeface="Calibri" pitchFamily="34" charset="0"/>
                <a:ea typeface="Calibri" pitchFamily="34" charset="-122"/>
                <a:cs typeface="Calibri" pitchFamily="34" charset="-120"/>
              </a:rPr>
              <a:t>info@manavcapital.com</a:t>
            </a:r>
            <a:endParaRPr lang="en-US" sz="1400" dirty="0"/>
          </a:p>
        </p:txBody>
      </p:sp>
      <p:sp>
        <p:nvSpPr>
          <p:cNvPr id="7" name="Text 4"/>
          <p:cNvSpPr/>
          <p:nvPr/>
        </p:nvSpPr>
        <p:spPr>
          <a:xfrm>
            <a:off x="0" y="3840480"/>
            <a:ext cx="12191695" cy="320040"/>
          </a:xfrm>
          <a:prstGeom prst="rect">
            <a:avLst/>
          </a:prstGeom>
          <a:noFill/>
          <a:ln/>
        </p:spPr>
        <p:txBody>
          <a:bodyPr wrap="square" lIns="0" tIns="0" rIns="0" bIns="0" rtlCol="0" anchor="ctr"/>
          <a:lstStyle/>
          <a:p>
            <a:pPr algn="ctr" indent="0" marL="0">
              <a:buNone/>
            </a:pPr>
            <a:r>
              <a:rPr lang="en-US" sz="1300" dirty="0">
                <a:solidFill>
                  <a:srgbClr val="D9BC84"/>
                </a:solidFill>
                <a:latin typeface="Calibri" pitchFamily="34" charset="0"/>
                <a:ea typeface="Calibri" pitchFamily="34" charset="-122"/>
                <a:cs typeface="Calibri" pitchFamily="34" charset="-120"/>
              </a:rPr>
              <a:t>(555) 010-0143  (placeholder number)</a:t>
            </a:r>
            <a:endParaRPr lang="en-US" sz="1300" dirty="0"/>
          </a:p>
        </p:txBody>
      </p:sp>
      <p:sp>
        <p:nvSpPr>
          <p:cNvPr id="8" name="Text 5"/>
          <p:cNvSpPr/>
          <p:nvPr/>
        </p:nvSpPr>
        <p:spPr>
          <a:xfrm>
            <a:off x="2255368" y="4846320"/>
            <a:ext cx="7680960" cy="640080"/>
          </a:xfrm>
          <a:prstGeom prst="rect">
            <a:avLst/>
          </a:prstGeom>
          <a:noFill/>
          <a:ln/>
        </p:spPr>
        <p:txBody>
          <a:bodyPr wrap="square" lIns="0" tIns="0" rIns="0" bIns="0" rtlCol="0" anchor="ctr"/>
          <a:lstStyle/>
          <a:p>
            <a:pPr algn="ctr" indent="0" marL="0">
              <a:lnSpc>
                <a:spcPct val="120000"/>
              </a:lnSpc>
              <a:buNone/>
            </a:pPr>
            <a:r>
              <a:rPr lang="en-US" sz="950" dirty="0">
                <a:solidFill>
                  <a:srgbClr val="7A8399"/>
                </a:solidFill>
                <a:latin typeface="Calibri" pitchFamily="34" charset="0"/>
                <a:ea typeface="Calibri" pitchFamily="34" charset="-122"/>
                <a:cs typeface="Calibri" pitchFamily="34" charset="-120"/>
              </a:rPr>
              <a:t>This document is a sample investor overview. Figures marked as targets are forward-looking and not guaranteed; comparable sales are a template pending verification. See full disclosure on slide 2.</a:t>
            </a:r>
            <a:endParaRPr lang="en-US" sz="950" dirty="0"/>
          </a:p>
        </p:txBody>
      </p:sp>
      <p:sp>
        <p:nvSpPr>
          <p:cNvPr id="9" name="Text 6"/>
          <p:cNvSpPr/>
          <p:nvPr/>
        </p:nvSpPr>
        <p:spPr>
          <a:xfrm>
            <a:off x="548640" y="6355080"/>
            <a:ext cx="3657600" cy="274320"/>
          </a:xfrm>
          <a:prstGeom prst="rect">
            <a:avLst/>
          </a:prstGeom>
          <a:noFill/>
          <a:ln/>
        </p:spPr>
        <p:txBody>
          <a:bodyPr wrap="square" lIns="0" tIns="0" rIns="0" bIns="0" rtlCol="0" anchor="ctr"/>
          <a:lstStyle/>
          <a:p>
            <a:pPr indent="0" marL="0">
              <a:buNone/>
            </a:pPr>
            <a:r>
              <a:rPr lang="en-US" sz="900" spc="100" kern="0" dirty="0">
                <a:solidFill>
                  <a:srgbClr val="A9B2C4"/>
                </a:solidFill>
                <a:latin typeface="Calibri" pitchFamily="34" charset="0"/>
                <a:ea typeface="Calibri" pitchFamily="34" charset="-122"/>
                <a:cs typeface="Calibri" pitchFamily="34" charset="-120"/>
              </a:rPr>
              <a:t>MANAV CAPITAL GROUP</a:t>
            </a:r>
            <a:endParaRPr lang="en-US" sz="900" dirty="0"/>
          </a:p>
        </p:txBody>
      </p:sp>
      <p:sp>
        <p:nvSpPr>
          <p:cNvPr id="10" name="Text 7"/>
          <p:cNvSpPr/>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A9B2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2026-08-06T22:36:02Z</dcterms:created>
  <dcterms:modified xsi:type="dcterms:W3CDTF">2026-08-06T22:36:02Z</dcterms:modified>
</cp:coreProperties>
</file>